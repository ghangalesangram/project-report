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71" r:id="rId2"/>
    <p:sldId id="272" r:id="rId3"/>
    <p:sldId id="273" r:id="rId4"/>
    <p:sldId id="256" r:id="rId5"/>
    <p:sldId id="274" r:id="rId6"/>
    <p:sldId id="275" r:id="rId7"/>
    <p:sldId id="259" r:id="rId8"/>
    <p:sldId id="260" r:id="rId9"/>
    <p:sldId id="276" r:id="rId10"/>
    <p:sldId id="261" r:id="rId11"/>
    <p:sldId id="277" r:id="rId12"/>
    <p:sldId id="262" r:id="rId13"/>
    <p:sldId id="267" r:id="rId14"/>
    <p:sldId id="278" r:id="rId15"/>
    <p:sldId id="279" r:id="rId16"/>
    <p:sldId id="263" r:id="rId17"/>
    <p:sldId id="264" r:id="rId18"/>
    <p:sldId id="265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F33BB9-2233-49D7-BE94-1C023091A510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D54C84-E8E2-43B1-899D-DD383683D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366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>
            <a:extLst>
              <a:ext uri="{FF2B5EF4-FFF2-40B4-BE49-F238E27FC236}">
                <a16:creationId xmlns:a16="http://schemas.microsoft.com/office/drawing/2014/main" id="{EB946EFE-7DD3-4716-B0FB-4C2435651D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7651" name="Notes Placeholder 2">
            <a:extLst>
              <a:ext uri="{FF2B5EF4-FFF2-40B4-BE49-F238E27FC236}">
                <a16:creationId xmlns:a16="http://schemas.microsoft.com/office/drawing/2014/main" id="{E266F43A-79A6-4710-8BBA-1A6EF4EE112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7652" name="Slide Number Placeholder 3">
            <a:extLst>
              <a:ext uri="{FF2B5EF4-FFF2-40B4-BE49-F238E27FC236}">
                <a16:creationId xmlns:a16="http://schemas.microsoft.com/office/drawing/2014/main" id="{458687D7-6F2C-4E72-926D-415A76AC85B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CE42147D-9F92-45F7-9C85-7AB66C9C32FA}" type="slidenum">
              <a:rPr lang="en-US" altLang="en-US"/>
              <a:pPr eaLnBrk="1" hangingPunct="1"/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>
            <a:extLst>
              <a:ext uri="{FF2B5EF4-FFF2-40B4-BE49-F238E27FC236}">
                <a16:creationId xmlns:a16="http://schemas.microsoft.com/office/drawing/2014/main" id="{626B5776-CDFF-4FB3-9635-996800F1DB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9699" name="Notes Placeholder 2">
            <a:extLst>
              <a:ext uri="{FF2B5EF4-FFF2-40B4-BE49-F238E27FC236}">
                <a16:creationId xmlns:a16="http://schemas.microsoft.com/office/drawing/2014/main" id="{99CFCBE9-D316-4819-A855-6C37AE2C31E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F2EF53F3-CD7D-4B68-B2A3-6EC73968BDC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63EF5079-5451-4637-A8C2-77B83595DBBA}" type="slidenum">
              <a:rPr lang="en-US" altLang="en-US"/>
              <a:pPr eaLnBrk="1" hangingPunct="1"/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>
            <a:extLst>
              <a:ext uri="{FF2B5EF4-FFF2-40B4-BE49-F238E27FC236}">
                <a16:creationId xmlns:a16="http://schemas.microsoft.com/office/drawing/2014/main" id="{54FF5395-F7D2-452D-AA15-4E517DB4F8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1747" name="Notes Placeholder 2">
            <a:extLst>
              <a:ext uri="{FF2B5EF4-FFF2-40B4-BE49-F238E27FC236}">
                <a16:creationId xmlns:a16="http://schemas.microsoft.com/office/drawing/2014/main" id="{6E78564D-494E-41F3-91B4-465CF618C95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17F31B96-288F-46E1-A7E4-B9DF078761C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B355E19E-16F2-4C27-8A5F-83BCE4BCDCF1}" type="slidenum">
              <a:rPr lang="en-US" altLang="en-US"/>
              <a:pPr eaLnBrk="1" hangingPunct="1"/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>
            <a:extLst>
              <a:ext uri="{FF2B5EF4-FFF2-40B4-BE49-F238E27FC236}">
                <a16:creationId xmlns:a16="http://schemas.microsoft.com/office/drawing/2014/main" id="{9FC5873A-2D2A-49C7-BFA6-D12A4B7CE4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3795" name="Notes Placeholder 2">
            <a:extLst>
              <a:ext uri="{FF2B5EF4-FFF2-40B4-BE49-F238E27FC236}">
                <a16:creationId xmlns:a16="http://schemas.microsoft.com/office/drawing/2014/main" id="{6234F162-8884-4B70-80FB-A98CFD72BAA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3796" name="Slide Number Placeholder 3">
            <a:extLst>
              <a:ext uri="{FF2B5EF4-FFF2-40B4-BE49-F238E27FC236}">
                <a16:creationId xmlns:a16="http://schemas.microsoft.com/office/drawing/2014/main" id="{9656CC98-169B-4649-A640-5B8BBC37E1B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BA61484E-6716-4D36-A2F3-29B55E94B049}" type="slidenum">
              <a:rPr lang="en-US" altLang="en-US"/>
              <a:pPr eaLnBrk="1" hangingPunct="1"/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>
            <a:extLst>
              <a:ext uri="{FF2B5EF4-FFF2-40B4-BE49-F238E27FC236}">
                <a16:creationId xmlns:a16="http://schemas.microsoft.com/office/drawing/2014/main" id="{6EBA9D9F-5FF1-4824-85C3-369EE16F6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5843" name="Notes Placeholder 2">
            <a:extLst>
              <a:ext uri="{FF2B5EF4-FFF2-40B4-BE49-F238E27FC236}">
                <a16:creationId xmlns:a16="http://schemas.microsoft.com/office/drawing/2014/main" id="{58589481-BDD4-48F4-A2C6-CD5C355374B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7D9F8F82-778E-40DF-93C2-D7C09C048A1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F2038432-196A-4C70-9885-8DDCF6EB42F8}" type="slidenum">
              <a:rPr lang="en-US" altLang="en-US"/>
              <a:pPr eaLnBrk="1" hangingPunct="1"/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>
            <a:extLst>
              <a:ext uri="{FF2B5EF4-FFF2-40B4-BE49-F238E27FC236}">
                <a16:creationId xmlns:a16="http://schemas.microsoft.com/office/drawing/2014/main" id="{25AEE357-3F79-4CC1-B3D1-B12F6FA10F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7891" name="Notes Placeholder 2">
            <a:extLst>
              <a:ext uri="{FF2B5EF4-FFF2-40B4-BE49-F238E27FC236}">
                <a16:creationId xmlns:a16="http://schemas.microsoft.com/office/drawing/2014/main" id="{44C3B789-E67B-4D07-962C-F385D02DB18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7892" name="Slide Number Placeholder 3">
            <a:extLst>
              <a:ext uri="{FF2B5EF4-FFF2-40B4-BE49-F238E27FC236}">
                <a16:creationId xmlns:a16="http://schemas.microsoft.com/office/drawing/2014/main" id="{733CE326-6C48-4CD3-AD7D-71B0523D9BC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1FDA1D4C-79E9-481D-9C5C-00F836227733}" type="slidenum">
              <a:rPr lang="en-US" altLang="en-US"/>
              <a:pPr eaLnBrk="1" hangingPunct="1"/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>
            <a:extLst>
              <a:ext uri="{FF2B5EF4-FFF2-40B4-BE49-F238E27FC236}">
                <a16:creationId xmlns:a16="http://schemas.microsoft.com/office/drawing/2014/main" id="{5EB09F22-07E9-443C-A2DC-BBCD89AE5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9939" name="Notes Placeholder 2">
            <a:extLst>
              <a:ext uri="{FF2B5EF4-FFF2-40B4-BE49-F238E27FC236}">
                <a16:creationId xmlns:a16="http://schemas.microsoft.com/office/drawing/2014/main" id="{A10ADE0B-4D9F-4ACC-9834-0E6453C937D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9940" name="Slide Number Placeholder 3">
            <a:extLst>
              <a:ext uri="{FF2B5EF4-FFF2-40B4-BE49-F238E27FC236}">
                <a16:creationId xmlns:a16="http://schemas.microsoft.com/office/drawing/2014/main" id="{5DD6E118-29AA-489B-94EC-7C24528EBAA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03DD7718-E0DC-43FC-970A-3A3B6B5DEA98}" type="slidenum">
              <a:rPr lang="en-US" altLang="en-US"/>
              <a:pPr eaLnBrk="1" hangingPunct="1"/>
              <a:t>15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>
            <a:extLst>
              <a:ext uri="{FF2B5EF4-FFF2-40B4-BE49-F238E27FC236}">
                <a16:creationId xmlns:a16="http://schemas.microsoft.com/office/drawing/2014/main" id="{474FEEB8-A57C-41F4-AA2C-9EFFF25EBF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1987" name="Notes Placeholder 2">
            <a:extLst>
              <a:ext uri="{FF2B5EF4-FFF2-40B4-BE49-F238E27FC236}">
                <a16:creationId xmlns:a16="http://schemas.microsoft.com/office/drawing/2014/main" id="{08AA6C40-2548-4204-B712-6883A60481E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1988" name="Slide Number Placeholder 3">
            <a:extLst>
              <a:ext uri="{FF2B5EF4-FFF2-40B4-BE49-F238E27FC236}">
                <a16:creationId xmlns:a16="http://schemas.microsoft.com/office/drawing/2014/main" id="{57BC6EF1-CD75-4FB3-8D1A-11A2DE09324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C3DDBA27-1614-4ED1-86C5-96DA9DA0754D}" type="slidenum">
              <a:rPr lang="en-US" altLang="en-US"/>
              <a:pPr eaLnBrk="1" hangingPunct="1"/>
              <a:t>16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>
            <a:extLst>
              <a:ext uri="{FF2B5EF4-FFF2-40B4-BE49-F238E27FC236}">
                <a16:creationId xmlns:a16="http://schemas.microsoft.com/office/drawing/2014/main" id="{9ED6BDA4-58F7-4B35-9679-068BB69E56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4035" name="Notes Placeholder 2">
            <a:extLst>
              <a:ext uri="{FF2B5EF4-FFF2-40B4-BE49-F238E27FC236}">
                <a16:creationId xmlns:a16="http://schemas.microsoft.com/office/drawing/2014/main" id="{260D1346-0B80-48A2-A486-4CBDC08BA29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B9C54F44-D467-4B99-B18E-915CF9812B3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0A2E88C6-DD1D-4FC7-B0F9-30926E6C8713}" type="slidenum">
              <a:rPr lang="en-US" altLang="en-US"/>
              <a:pPr eaLnBrk="1" hangingPunct="1"/>
              <a:t>17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>
            <a:extLst>
              <a:ext uri="{FF2B5EF4-FFF2-40B4-BE49-F238E27FC236}">
                <a16:creationId xmlns:a16="http://schemas.microsoft.com/office/drawing/2014/main" id="{E6963ECB-6663-419E-836A-B39C68E44A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6083" name="Notes Placeholder 2">
            <a:extLst>
              <a:ext uri="{FF2B5EF4-FFF2-40B4-BE49-F238E27FC236}">
                <a16:creationId xmlns:a16="http://schemas.microsoft.com/office/drawing/2014/main" id="{0D480684-115E-4C0E-B6B1-9681082D058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6A972BD0-8182-4E31-98F9-ACD26FF0C8D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508BB95C-C828-4F73-A680-53778276F4AD}" type="slidenum">
              <a:rPr lang="en-US" altLang="en-US"/>
              <a:pPr eaLnBrk="1" hangingPunct="1"/>
              <a:t>18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08477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46285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36015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86798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24762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99534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55215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45060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10405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6643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Box 1">
            <a:extLst>
              <a:ext uri="{FF2B5EF4-FFF2-40B4-BE49-F238E27FC236}">
                <a16:creationId xmlns:a16="http://schemas.microsoft.com/office/drawing/2014/main" id="{BBA12F40-4DF7-40AF-8BBF-660AF3E39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2218" y="866574"/>
            <a:ext cx="293657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400" b="1" dirty="0"/>
              <a:t>SAVITRIBAI PHULE PUNE UNIVERSITY</a:t>
            </a:r>
          </a:p>
          <a:p>
            <a:pPr eaLnBrk="1" hangingPunct="1"/>
            <a:endParaRPr lang="en-US" altLang="en-US" sz="1400" b="1" dirty="0"/>
          </a:p>
        </p:txBody>
      </p:sp>
      <p:pic>
        <p:nvPicPr>
          <p:cNvPr id="23555" name="Picture 3">
            <a:extLst>
              <a:ext uri="{FF2B5EF4-FFF2-40B4-BE49-F238E27FC236}">
                <a16:creationId xmlns:a16="http://schemas.microsoft.com/office/drawing/2014/main" id="{1DB95CFC-E48B-4AEA-972F-054992488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0941" y="1220391"/>
            <a:ext cx="1067594" cy="803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6" name="Picture 4">
            <a:extLst>
              <a:ext uri="{FF2B5EF4-FFF2-40B4-BE49-F238E27FC236}">
                <a16:creationId xmlns:a16="http://schemas.microsoft.com/office/drawing/2014/main" id="{EA5C230F-4990-47D7-92EB-CA4153CD7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5774" y="3145372"/>
            <a:ext cx="897929" cy="897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560261-F43F-475E-8759-1669F7AA2250}"/>
              </a:ext>
            </a:extLst>
          </p:cNvPr>
          <p:cNvSpPr txBox="1"/>
          <p:nvPr/>
        </p:nvSpPr>
        <p:spPr>
          <a:xfrm>
            <a:off x="2244328" y="2166938"/>
            <a:ext cx="4341813" cy="1178849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marL="6350" indent="-63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7000"/>
              </a:lnSpc>
              <a:spcAft>
                <a:spcPts val="711"/>
              </a:spcAft>
            </a:pP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SAHYADRI VALLEY COLLEGE OF ENGINEERING &amp; </a:t>
            </a:r>
            <a:endParaRPr lang="en-US" altLang="en-US" sz="1400" dirty="0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algn="ctr">
              <a:lnSpc>
                <a:spcPct val="107000"/>
              </a:lnSpc>
              <a:spcAft>
                <a:spcPts val="711"/>
              </a:spcAft>
            </a:pP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TECHNOLOGY, RAJURI, PUNE (2024-2025) </a:t>
            </a:r>
            <a:endParaRPr lang="en-US" altLang="en-US" sz="1400" dirty="0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eaLnBrk="1" hangingPunct="1"/>
            <a:endParaRPr lang="en-US" alt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7F9121-6729-4829-851A-24CFE2C01C51}"/>
              </a:ext>
            </a:extLst>
          </p:cNvPr>
          <p:cNvSpPr txBox="1"/>
          <p:nvPr/>
        </p:nvSpPr>
        <p:spPr>
          <a:xfrm>
            <a:off x="2286000" y="4122931"/>
            <a:ext cx="4572000" cy="307392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7000"/>
              </a:lnSpc>
              <a:spcAft>
                <a:spcPts val="539"/>
              </a:spcAft>
            </a:pPr>
            <a:r>
              <a:rPr lang="en-US" altLang="en-US" sz="11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ENGINEERING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E87E5E-5F23-4948-81D0-5485798E47FD}"/>
              </a:ext>
            </a:extLst>
          </p:cNvPr>
          <p:cNvSpPr txBox="1"/>
          <p:nvPr/>
        </p:nvSpPr>
        <p:spPr>
          <a:xfrm>
            <a:off x="2286000" y="4589583"/>
            <a:ext cx="4572000" cy="130285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99000"/>
              </a:lnSpc>
              <a:spcAft>
                <a:spcPts val="711"/>
              </a:spcAft>
            </a:pPr>
            <a:r>
              <a:rPr lang="en-US" altLang="en-US" sz="1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to the Department of Computer Engineering, SVCET, </a:t>
            </a:r>
            <a:r>
              <a:rPr lang="en-US" altLang="en-US" sz="14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Rajuri</a:t>
            </a:r>
            <a:r>
              <a:rPr lang="en-US" altLang="en-US" sz="1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Pune, in partial fulfillment of the requirements for the </a:t>
            </a:r>
            <a:endParaRPr lang="en-US" altLang="en-US" sz="1100" dirty="0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47"/>
              </a:spcAft>
            </a:pPr>
            <a:r>
              <a:rPr lang="en-US" altLang="en-US" sz="1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1100" dirty="0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algn="ctr">
              <a:lnSpc>
                <a:spcPct val="107000"/>
              </a:lnSpc>
              <a:spcAft>
                <a:spcPts val="711"/>
              </a:spcAft>
            </a:pP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YEAR OF COMPUTER ENGINEERING </a:t>
            </a:r>
            <a:endParaRPr lang="en-US" altLang="en-US" sz="1100" dirty="0">
              <a:solidFill>
                <a:srgbClr val="000000"/>
              </a:solidFill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327543-0A4A-414A-951E-45773730BA96}"/>
              </a:ext>
            </a:extLst>
          </p:cNvPr>
          <p:cNvSpPr txBox="1"/>
          <p:nvPr/>
        </p:nvSpPr>
        <p:spPr>
          <a:xfrm>
            <a:off x="1847653" y="1150070"/>
            <a:ext cx="5505253" cy="115717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6350" indent="-63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7000"/>
              </a:lnSpc>
              <a:spcAft>
                <a:spcPts val="711"/>
              </a:spcAft>
            </a:pP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endParaRPr lang="en-US" altLang="en-US" sz="1100" dirty="0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algn="ctr">
              <a:lnSpc>
                <a:spcPct val="107000"/>
              </a:lnSpc>
              <a:spcAft>
                <a:spcPts val="1118"/>
              </a:spcAft>
            </a:pP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REPORT ON </a:t>
            </a:r>
            <a:endParaRPr lang="en-US" altLang="en-US" sz="1100" dirty="0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algn="ctr">
              <a:lnSpc>
                <a:spcPct val="107000"/>
              </a:lnSpc>
              <a:spcAft>
                <a:spcPts val="469"/>
              </a:spcAft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Mahadiscom</a:t>
            </a:r>
            <a:r>
              <a:rPr lang="en-US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Website Automation Using </a:t>
            </a:r>
            <a:r>
              <a:rPr lang="en-US" altLang="en-US"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UiPath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endParaRPr lang="en-US" altLang="en-US" sz="1100" dirty="0">
              <a:solidFill>
                <a:srgbClr val="000000"/>
              </a:solidFill>
              <a:cs typeface="Calibri" panose="020F0502020204030204" pitchFamily="34" charset="0"/>
            </a:endParaRPr>
          </a:p>
        </p:txBody>
      </p:sp>
      <p:sp>
        <p:nvSpPr>
          <p:cNvPr id="24579" name="TextBox 12">
            <a:extLst>
              <a:ext uri="{FF2B5EF4-FFF2-40B4-BE49-F238E27FC236}">
                <a16:creationId xmlns:a16="http://schemas.microsoft.com/office/drawing/2014/main" id="{EFF54CF6-BE7E-49D5-A8A4-351964BC1F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5058" y="3171431"/>
            <a:ext cx="5131932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 </a:t>
            </a:r>
            <a:r>
              <a:rPr lang="en-US" altLang="en-US" sz="1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Mr.Khopade</a:t>
            </a: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Manish Jeevan</a:t>
            </a:r>
          </a:p>
          <a:p>
            <a:pPr eaLnBrk="1" hangingPunct="1"/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Mr. Ghangale Sangram Bharat </a:t>
            </a:r>
          </a:p>
          <a:p>
            <a:pPr eaLnBrk="1" hangingPunct="1"/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Ms. </a:t>
            </a:r>
            <a:r>
              <a:rPr lang="en-US" altLang="en-US" sz="1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Punde</a:t>
            </a: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Vaishnavi </a:t>
            </a:r>
            <a:r>
              <a:rPr lang="en-US" altLang="en-US" sz="1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Eknath</a:t>
            </a:r>
            <a:endParaRPr lang="en-US" altLang="en-US" sz="1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                               Ms. </a:t>
            </a:r>
            <a:r>
              <a:rPr lang="en-US" altLang="en-US" sz="1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Tikande</a:t>
            </a: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Divya</a:t>
            </a: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Dadapatil</a:t>
            </a:r>
            <a:r>
              <a:rPr lang="en-US" altLang="en-US" sz="1400" dirty="0">
                <a:solidFill>
                  <a:srgbClr val="000000"/>
                </a:solidFill>
                <a:cs typeface="Calibri" panose="020F0502020204030204" pitchFamily="34" charset="0"/>
              </a:rPr>
              <a:t> </a:t>
            </a: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B597D9-1B06-4EFD-8919-2FC1698E68A1}"/>
              </a:ext>
            </a:extLst>
          </p:cNvPr>
          <p:cNvSpPr txBox="1"/>
          <p:nvPr/>
        </p:nvSpPr>
        <p:spPr>
          <a:xfrm>
            <a:off x="2453484" y="4649335"/>
            <a:ext cx="4899422" cy="58791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353"/>
              </a:spcAft>
              <a:tabLst>
                <a:tab pos="602044" algn="ctr"/>
                <a:tab pos="2714954" algn="ctr"/>
              </a:tabLst>
              <a:defRPr/>
            </a:pPr>
            <a:r>
              <a:rPr lang="en-US" sz="1250" kern="1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1400" b="1" kern="1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Internal Examiner </a:t>
            </a:r>
            <a:r>
              <a:rPr lang="en-US" sz="1200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	</a:t>
            </a:r>
            <a:endParaRPr lang="en-US" sz="1200" b="1" kern="100" dirty="0">
              <a:solidFill>
                <a:srgbClr val="000000"/>
              </a:solidFill>
              <a:latin typeface="Times New Roman" panose="020206030504050203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>
              <a:lnSpc>
                <a:spcPct val="107000"/>
              </a:lnSpc>
              <a:spcAft>
                <a:spcPts val="353"/>
              </a:spcAft>
              <a:tabLst>
                <a:tab pos="602044" algn="ctr"/>
                <a:tab pos="2714954" algn="ctr"/>
              </a:tabLst>
              <a:defRPr/>
            </a:pPr>
            <a:r>
              <a:rPr lang="en-US" sz="1400" b="1" kern="1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(</a:t>
            </a:r>
            <a:r>
              <a:rPr lang="en-US" sz="1400" b="1" kern="100" dirty="0" err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Prof.Khatal</a:t>
            </a:r>
            <a:r>
              <a:rPr lang="en-US" sz="1400" b="1" kern="1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K.B) </a:t>
            </a:r>
            <a:r>
              <a:rPr lang="en-US" sz="1200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sz="1200" b="1" kern="100" dirty="0">
              <a:solidFill>
                <a:srgbClr val="000000"/>
              </a:solidFill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C1FB4AB-C59B-4558-A1C5-364B0ADC1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658622"/>
              </p:ext>
            </p:extLst>
          </p:nvPr>
        </p:nvGraphicFramePr>
        <p:xfrm>
          <a:off x="1150069" y="358220"/>
          <a:ext cx="7211505" cy="62876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3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7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3218">
                <a:tc>
                  <a:txBody>
                    <a:bodyPr/>
                    <a:lstStyle/>
                    <a:p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9" marB="28579"/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9" marB="2857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230">
                <a:tc>
                  <a:txBody>
                    <a:bodyPr/>
                    <a:lstStyle/>
                    <a:p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9" marB="28579"/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9" marB="2857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025">
                <a:tc>
                  <a:txBody>
                    <a:bodyPr/>
                    <a:lstStyle/>
                    <a:p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9" marB="28579"/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9" marB="2857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025">
                <a:tc>
                  <a:txBody>
                    <a:bodyPr/>
                    <a:lstStyle/>
                    <a:p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9" marB="28579"/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9" marB="2857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025">
                <a:tc>
                  <a:txBody>
                    <a:bodyPr/>
                    <a:lstStyle/>
                    <a:p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9" marB="28579"/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9" marB="2857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2025">
                <a:tc>
                  <a:txBody>
                    <a:bodyPr/>
                    <a:lstStyle/>
                    <a:p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9" marB="28579"/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9" marB="2857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2025">
                <a:tc>
                  <a:txBody>
                    <a:bodyPr/>
                    <a:lstStyle/>
                    <a:p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9" marB="28579"/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9" marB="2857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2025">
                <a:tc>
                  <a:txBody>
                    <a:bodyPr/>
                    <a:lstStyle/>
                    <a:p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9" marB="28579"/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9" marB="28579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2025">
                <a:tc>
                  <a:txBody>
                    <a:bodyPr/>
                    <a:lstStyle/>
                    <a:p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9" marB="28579"/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9" marB="28579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62025">
                <a:tc>
                  <a:txBody>
                    <a:bodyPr/>
                    <a:lstStyle/>
                    <a:p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9" marB="28579"/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9" marB="28579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62025">
                <a:tc>
                  <a:txBody>
                    <a:bodyPr/>
                    <a:lstStyle/>
                    <a:p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9" marB="28579"/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28579" marB="28579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28395F6-D193-4C22-92CC-20B1BE95B4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426222"/>
              </p:ext>
            </p:extLst>
          </p:nvPr>
        </p:nvGraphicFramePr>
        <p:xfrm>
          <a:off x="515332" y="358220"/>
          <a:ext cx="7997072" cy="5928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32685">
                  <a:extLst>
                    <a:ext uri="{9D8B030D-6E8A-4147-A177-3AD203B41FA5}">
                      <a16:colId xmlns:a16="http://schemas.microsoft.com/office/drawing/2014/main" val="2923598207"/>
                    </a:ext>
                  </a:extLst>
                </a:gridCol>
                <a:gridCol w="7164387">
                  <a:extLst>
                    <a:ext uri="{9D8B030D-6E8A-4147-A177-3AD203B41FA5}">
                      <a16:colId xmlns:a16="http://schemas.microsoft.com/office/drawing/2014/main" val="2074659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987772"/>
                  </a:ext>
                </a:extLst>
              </a:tr>
              <a:tr h="161197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ea typeface="Spline Sans Bold" pitchFamily="34" charset="-122"/>
                          <a:cs typeface="Times New Roman" panose="02020603050405020304" pitchFamily="18" charset="0"/>
                        </a:rPr>
                        <a:t>Automating </a:t>
                      </a:r>
                      <a:r>
                        <a:rPr lang="en-US" sz="1800" b="1" dirty="0" err="1">
                          <a:latin typeface="Times New Roman" panose="02020603050405020304" pitchFamily="18" charset="0"/>
                          <a:ea typeface="Spline Sans Bold" pitchFamily="34" charset="-122"/>
                          <a:cs typeface="Times New Roman" panose="02020603050405020304" pitchFamily="18" charset="0"/>
                        </a:rPr>
                        <a:t>Mahavitaran</a:t>
                      </a:r>
                      <a:r>
                        <a:rPr lang="en-US" sz="1800" b="1" dirty="0">
                          <a:latin typeface="Times New Roman" panose="02020603050405020304" pitchFamily="18" charset="0"/>
                          <a:ea typeface="Spline Sans Bold" pitchFamily="34" charset="-122"/>
                          <a:cs typeface="Times New Roman" panose="02020603050405020304" pitchFamily="18" charset="0"/>
                        </a:rPr>
                        <a:t> Website Using </a:t>
                      </a:r>
                      <a:r>
                        <a:rPr lang="en-US" sz="1800" b="1" dirty="0" err="1">
                          <a:latin typeface="Times New Roman" panose="02020603050405020304" pitchFamily="18" charset="0"/>
                          <a:ea typeface="Spline Sans Bold" pitchFamily="34" charset="-122"/>
                          <a:cs typeface="Times New Roman" panose="02020603050405020304" pitchFamily="18" charset="0"/>
                        </a:rPr>
                        <a:t>UiPath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631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b="1" dirty="0">
                          <a:latin typeface="Times New Roman" panose="02020603050405020304" pitchFamily="18" charset="0"/>
                          <a:ea typeface="Spline Sans Bold"/>
                          <a:cs typeface="Times New Roman" panose="02020603050405020304" pitchFamily="18" charset="0"/>
                        </a:rPr>
                        <a:t>Introduction to </a:t>
                      </a:r>
                      <a:r>
                        <a:rPr lang="en-US" altLang="en-US" sz="1800" b="1" dirty="0" err="1">
                          <a:latin typeface="Times New Roman" panose="02020603050405020304" pitchFamily="18" charset="0"/>
                          <a:ea typeface="Spline Sans Bold"/>
                          <a:cs typeface="Times New Roman" panose="02020603050405020304" pitchFamily="18" charset="0"/>
                        </a:rPr>
                        <a:t>Mahavitaran</a:t>
                      </a:r>
                      <a:r>
                        <a:rPr lang="en-US" altLang="en-US" sz="1800" b="1" dirty="0">
                          <a:latin typeface="Times New Roman" panose="02020603050405020304" pitchFamily="18" charset="0"/>
                          <a:ea typeface="Spline Sans Bold"/>
                          <a:cs typeface="Times New Roman" panose="02020603050405020304" pitchFamily="18" charset="0"/>
                        </a:rPr>
                        <a:t> and the Need for Automation</a:t>
                      </a:r>
                      <a:endParaRPr lang="en-US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332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b="1" dirty="0">
                          <a:latin typeface="Bell MT" panose="02020503060305020303" pitchFamily="18" charset="0"/>
                          <a:ea typeface="Spline Sans Bold"/>
                          <a:cs typeface="Spline Sans Bold"/>
                        </a:rPr>
                        <a:t>Challenges with Manual Electricity Bill Filling</a:t>
                      </a:r>
                      <a:endParaRPr lang="en-US" altLang="en-US" sz="1800" dirty="0">
                        <a:latin typeface="Bell MT" panose="02020503060305020303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446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913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 and Technologies Used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53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b="1" dirty="0">
                          <a:latin typeface="Times New Roman" panose="02020603050405020304" pitchFamily="18" charset="0"/>
                          <a:ea typeface="Spline Sans Bold"/>
                          <a:cs typeface="Times New Roman" panose="02020603050405020304" pitchFamily="18" charset="0"/>
                        </a:rPr>
                        <a:t>Overview of </a:t>
                      </a:r>
                      <a:r>
                        <a:rPr lang="en-US" altLang="en-US" sz="1800" b="1" dirty="0" err="1">
                          <a:latin typeface="Times New Roman" panose="02020603050405020304" pitchFamily="18" charset="0"/>
                          <a:ea typeface="Spline Sans Bold"/>
                          <a:cs typeface="Times New Roman" panose="02020603050405020304" pitchFamily="18" charset="0"/>
                        </a:rPr>
                        <a:t>UiPath</a:t>
                      </a:r>
                      <a:r>
                        <a:rPr lang="en-US" altLang="en-US" sz="1800" b="1" dirty="0">
                          <a:latin typeface="Times New Roman" panose="02020603050405020304" pitchFamily="18" charset="0"/>
                          <a:ea typeface="Spline Sans Bold"/>
                          <a:cs typeface="Times New Roman" panose="02020603050405020304" pitchFamily="18" charset="0"/>
                        </a:rPr>
                        <a:t> and its Capabilities</a:t>
                      </a:r>
                      <a:endParaRPr lang="en-US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928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Workflow Overview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605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ea typeface="Spline Sans Bold" pitchFamily="34" charset="-122"/>
                          <a:cs typeface="Times New Roman" panose="02020603050405020304" pitchFamily="18" charset="0"/>
                        </a:rPr>
                        <a:t>Step-by-Step Process of Automating Bill Filling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0192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UiPath</a:t>
                      </a: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Project Architecture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706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Scheduling the Bot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768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b="1" dirty="0">
                          <a:latin typeface="Times New Roman" panose="02020603050405020304" pitchFamily="18" charset="0"/>
                          <a:ea typeface="Spline Sans Bold"/>
                          <a:cs typeface="Times New Roman" panose="02020603050405020304" pitchFamily="18" charset="0"/>
                        </a:rPr>
                        <a:t>Benefits of Automating the </a:t>
                      </a:r>
                      <a:r>
                        <a:rPr lang="en-US" altLang="en-US" sz="1800" b="1" dirty="0" err="1">
                          <a:latin typeface="Times New Roman" panose="02020603050405020304" pitchFamily="18" charset="0"/>
                          <a:ea typeface="Spline Sans Bold"/>
                          <a:cs typeface="Times New Roman" panose="02020603050405020304" pitchFamily="18" charset="0"/>
                        </a:rPr>
                        <a:t>Mahavitaran</a:t>
                      </a:r>
                      <a:r>
                        <a:rPr lang="en-US" altLang="en-US" sz="1800" b="1" dirty="0">
                          <a:latin typeface="Times New Roman" panose="02020603050405020304" pitchFamily="18" charset="0"/>
                          <a:ea typeface="Spline Sans Bold"/>
                          <a:cs typeface="Times New Roman" panose="02020603050405020304" pitchFamily="18" charset="0"/>
                        </a:rPr>
                        <a:t> Website</a:t>
                      </a:r>
                      <a:endParaRPr lang="en-US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95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b="1" dirty="0">
                          <a:latin typeface="Times New Roman" panose="02020603050405020304" pitchFamily="18" charset="0"/>
                          <a:ea typeface="Spline Sans Bold"/>
                          <a:cs typeface="Times New Roman" panose="02020603050405020304" pitchFamily="18" charset="0"/>
                        </a:rPr>
                        <a:t>Potential Roadblocks </a:t>
                      </a:r>
                      <a:endParaRPr lang="en-US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937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b="1" dirty="0">
                          <a:latin typeface="Times New Roman" panose="02020603050405020304" pitchFamily="18" charset="0"/>
                          <a:ea typeface="Spline Sans Bold"/>
                          <a:cs typeface="Times New Roman" panose="02020603050405020304" pitchFamily="18" charset="0"/>
                        </a:rPr>
                        <a:t>Future Scope</a:t>
                      </a:r>
                      <a:endParaRPr lang="en-US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939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b="1" dirty="0">
                          <a:latin typeface="Times New Roman" panose="02020603050405020304" pitchFamily="18" charset="0"/>
                          <a:ea typeface="Spline Sans Bold"/>
                          <a:cs typeface="Times New Roman" panose="02020603050405020304" pitchFamily="18" charset="0"/>
                        </a:rPr>
                        <a:t>Mitigation Strategies</a:t>
                      </a:r>
                      <a:endParaRPr lang="en-US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7980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b="1" dirty="0">
                          <a:latin typeface="Times New Roman" panose="02020603050405020304" pitchFamily="18" charset="0"/>
                          <a:ea typeface="Spline Sans Bold"/>
                          <a:cs typeface="Times New Roman" panose="02020603050405020304" pitchFamily="18" charset="0"/>
                        </a:rPr>
                        <a:t>Conclusion and Next Steps</a:t>
                      </a:r>
                      <a:endParaRPr lang="en-US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293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B42BE48-AD84-46C4-BFCD-862E3510EF10}"/>
              </a:ext>
            </a:extLst>
          </p:cNvPr>
          <p:cNvSpPr/>
          <p:nvPr/>
        </p:nvSpPr>
        <p:spPr>
          <a:xfrm>
            <a:off x="417711" y="1538883"/>
            <a:ext cx="8231188" cy="1204516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>
              <a:lnSpc>
                <a:spcPts val="4656"/>
              </a:lnSpc>
              <a:defRPr/>
            </a:pPr>
            <a:r>
              <a:rPr lang="en-US" sz="4000" b="1" dirty="0"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Automating Mahavitaran Website Using UiPath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27" name="Text 1">
            <a:extLst>
              <a:ext uri="{FF2B5EF4-FFF2-40B4-BE49-F238E27FC236}">
                <a16:creationId xmlns:a16="http://schemas.microsoft.com/office/drawing/2014/main" id="{77C8008D-284C-4591-89E2-43694A535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554" y="2970610"/>
            <a:ext cx="7947849" cy="1525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938"/>
              </a:lnSpc>
            </a:pP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Mahavitaran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electricity distribution company, is modernizing its operations by automating its website and bill filling processes using the powerful RPA tool,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UiPath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presentation will provide an overview of the automation project and its benefits.</a:t>
            </a:r>
          </a:p>
        </p:txBody>
      </p:sp>
      <p:sp>
        <p:nvSpPr>
          <p:cNvPr id="26628" name="Text 3">
            <a:extLst>
              <a:ext uri="{FF2B5EF4-FFF2-40B4-BE49-F238E27FC236}">
                <a16:creationId xmlns:a16="http://schemas.microsoft.com/office/drawing/2014/main" id="{D90D4E89-4080-489D-8009-A2C958477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196" y="5173266"/>
            <a:ext cx="1640086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2125"/>
              </a:lnSpc>
            </a:pPr>
            <a:endParaRPr lang="en-US" altLang="en-US"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0">
            <a:extLst>
              <a:ext uri="{FF2B5EF4-FFF2-40B4-BE49-F238E27FC236}">
                <a16:creationId xmlns:a16="http://schemas.microsoft.com/office/drawing/2014/main" id="{55846771-148D-42EE-BA3B-F09942614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086" y="1341438"/>
            <a:ext cx="6952258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3375"/>
              </a:lnSpc>
            </a:pPr>
            <a:r>
              <a:rPr lang="en-US" altLang="en-US" sz="3200" b="1" dirty="0">
                <a:latin typeface="Times New Roman" panose="02020603050405020304" pitchFamily="18" charset="0"/>
                <a:ea typeface="Spline Sans Bold"/>
                <a:cs typeface="Times New Roman" panose="02020603050405020304" pitchFamily="18" charset="0"/>
              </a:rPr>
              <a:t>Introduction to </a:t>
            </a:r>
            <a:r>
              <a:rPr lang="en-US" altLang="en-US" sz="3200" b="1" dirty="0" err="1">
                <a:latin typeface="Times New Roman" panose="02020603050405020304" pitchFamily="18" charset="0"/>
                <a:ea typeface="Spline Sans Bold"/>
                <a:cs typeface="Times New Roman" panose="02020603050405020304" pitchFamily="18" charset="0"/>
              </a:rPr>
              <a:t>Mahavitaran</a:t>
            </a:r>
            <a:r>
              <a:rPr lang="en-US" altLang="en-US" sz="3200" b="1" dirty="0">
                <a:latin typeface="Times New Roman" panose="02020603050405020304" pitchFamily="18" charset="0"/>
                <a:ea typeface="Spline Sans Bold"/>
                <a:cs typeface="Times New Roman" panose="02020603050405020304" pitchFamily="18" charset="0"/>
              </a:rPr>
              <a:t> and the Need for Automation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75" name="Text 2">
            <a:extLst>
              <a:ext uri="{FF2B5EF4-FFF2-40B4-BE49-F238E27FC236}">
                <a16:creationId xmlns:a16="http://schemas.microsoft.com/office/drawing/2014/main" id="{34F08257-C4DD-4EBB-AF7F-8D3C62F06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378" y="2907110"/>
            <a:ext cx="89297" cy="205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ts val="1594"/>
              </a:lnSpc>
            </a:pPr>
            <a:r>
              <a:rPr lang="en-US" altLang="en-US" sz="1500" b="1">
                <a:ea typeface="Spline Sans Bold"/>
                <a:cs typeface="Spline Sans Bold"/>
              </a:rPr>
              <a:t>1</a:t>
            </a:r>
            <a:endParaRPr lang="en-US" altLang="en-US" sz="1500"/>
          </a:p>
        </p:txBody>
      </p:sp>
      <p:sp>
        <p:nvSpPr>
          <p:cNvPr id="28676" name="Text 3">
            <a:extLst>
              <a:ext uri="{FF2B5EF4-FFF2-40B4-BE49-F238E27FC236}">
                <a16:creationId xmlns:a16="http://schemas.microsoft.com/office/drawing/2014/main" id="{70EF1A70-920A-4871-B51B-C096DDE88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142" y="2825750"/>
            <a:ext cx="1738313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688"/>
              </a:lnSpc>
            </a:pPr>
            <a:r>
              <a:rPr lang="en-US" altLang="en-US" b="1" dirty="0" err="1">
                <a:latin typeface="Times New Roman" panose="02020603050405020304" pitchFamily="18" charset="0"/>
                <a:ea typeface="Spline Sans Bold"/>
                <a:cs typeface="Times New Roman" panose="02020603050405020304" pitchFamily="18" charset="0"/>
              </a:rPr>
              <a:t>Mahavitaran</a:t>
            </a:r>
            <a:r>
              <a:rPr lang="en-US" altLang="en-US" b="1" dirty="0">
                <a:latin typeface="Times New Roman" panose="02020603050405020304" pitchFamily="18" charset="0"/>
                <a:ea typeface="Spline Sans Bold"/>
                <a:cs typeface="Times New Roman" panose="02020603050405020304" pitchFamily="18" charset="0"/>
              </a:rPr>
              <a:t> Overview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77" name="Text 4">
            <a:extLst>
              <a:ext uri="{FF2B5EF4-FFF2-40B4-BE49-F238E27FC236}">
                <a16:creationId xmlns:a16="http://schemas.microsoft.com/office/drawing/2014/main" id="{F63F2094-996B-4930-853B-0B4EA58F2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438" y="3351610"/>
            <a:ext cx="2267981" cy="1234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938"/>
              </a:lnSpc>
            </a:pP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Mahavitaran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largest electricity distribution company in the state, serving millions of customers.</a:t>
            </a:r>
          </a:p>
        </p:txBody>
      </p:sp>
      <p:sp>
        <p:nvSpPr>
          <p:cNvPr id="28678" name="Text 6">
            <a:extLst>
              <a:ext uri="{FF2B5EF4-FFF2-40B4-BE49-F238E27FC236}">
                <a16:creationId xmlns:a16="http://schemas.microsoft.com/office/drawing/2014/main" id="{642D9C8C-BCDE-416C-9E92-FD03A7CFD2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5680" y="2901157"/>
            <a:ext cx="114101" cy="205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ts val="1594"/>
              </a:lnSpc>
            </a:pPr>
            <a:r>
              <a:rPr lang="en-US" altLang="en-US" b="1">
                <a:latin typeface="Times New Roman" panose="02020603050405020304" pitchFamily="18" charset="0"/>
                <a:ea typeface="Spline Sans Bold"/>
                <a:cs typeface="Times New Roman" panose="02020603050405020304" pitchFamily="18" charset="0"/>
              </a:rPr>
              <a:t>2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79" name="Text 7">
            <a:extLst>
              <a:ext uri="{FF2B5EF4-FFF2-40B4-BE49-F238E27FC236}">
                <a16:creationId xmlns:a16="http://schemas.microsoft.com/office/drawing/2014/main" id="{7858A703-BAD6-463A-9105-D687BF5A6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5442" y="2907110"/>
            <a:ext cx="17145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688"/>
              </a:lnSpc>
            </a:pPr>
            <a:r>
              <a:rPr lang="en-US" altLang="en-US" b="1" dirty="0">
                <a:latin typeface="Times New Roman" panose="02020603050405020304" pitchFamily="18" charset="0"/>
                <a:ea typeface="Spline Sans Bold"/>
                <a:cs typeface="Times New Roman" panose="02020603050405020304" pitchFamily="18" charset="0"/>
              </a:rPr>
              <a:t>Manual Processes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80" name="Text 8">
            <a:extLst>
              <a:ext uri="{FF2B5EF4-FFF2-40B4-BE49-F238E27FC236}">
                <a16:creationId xmlns:a16="http://schemas.microsoft.com/office/drawing/2014/main" id="{3708CE8D-58F6-4E80-B02A-75021832E5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5442" y="3351609"/>
            <a:ext cx="2102567" cy="1234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938"/>
              </a:lnSpc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company's website and bill filling processes were previously done manually, leading to inefficiencies.</a:t>
            </a:r>
          </a:p>
        </p:txBody>
      </p:sp>
      <p:sp>
        <p:nvSpPr>
          <p:cNvPr id="28681" name="Text 10">
            <a:extLst>
              <a:ext uri="{FF2B5EF4-FFF2-40B4-BE49-F238E27FC236}">
                <a16:creationId xmlns:a16="http://schemas.microsoft.com/office/drawing/2014/main" id="{5D9CA2F5-2EBE-485B-ADC6-9168F3C6F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5422" y="2907110"/>
            <a:ext cx="120055" cy="205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ts val="1594"/>
              </a:lnSpc>
            </a:pPr>
            <a:r>
              <a:rPr lang="en-US" altLang="en-US" b="1">
                <a:latin typeface="Times New Roman" panose="02020603050405020304" pitchFamily="18" charset="0"/>
                <a:ea typeface="Spline Sans Bold"/>
                <a:cs typeface="Times New Roman" panose="02020603050405020304" pitchFamily="18" charset="0"/>
              </a:rPr>
              <a:t>3</a:t>
            </a:r>
          </a:p>
          <a:p>
            <a:pPr algn="ctr">
              <a:lnSpc>
                <a:spcPts val="1594"/>
              </a:lnSpc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82" name="Text 11">
            <a:extLst>
              <a:ext uri="{FF2B5EF4-FFF2-40B4-BE49-F238E27FC236}">
                <a16:creationId xmlns:a16="http://schemas.microsoft.com/office/drawing/2014/main" id="{60F51F56-B175-4640-98B0-80205B839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8016" y="2825750"/>
            <a:ext cx="17145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688"/>
              </a:lnSpc>
            </a:pPr>
            <a:r>
              <a:rPr lang="en-US" altLang="en-US" b="1" dirty="0">
                <a:latin typeface="Times New Roman" panose="02020603050405020304" pitchFamily="18" charset="0"/>
                <a:ea typeface="Spline Sans Bold"/>
                <a:cs typeface="Times New Roman" panose="02020603050405020304" pitchFamily="18" charset="0"/>
              </a:rPr>
              <a:t>Need for Automation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83" name="Text 12">
            <a:extLst>
              <a:ext uri="{FF2B5EF4-FFF2-40B4-BE49-F238E27FC236}">
                <a16:creationId xmlns:a16="http://schemas.microsoft.com/office/drawing/2014/main" id="{2B9C64FB-718B-4F78-A756-0BD5533A0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2032" y="3351609"/>
            <a:ext cx="2414984" cy="494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938"/>
              </a:lnSpc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Automating these processes can improve accuracy, speed, and customer satisfaction.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0">
            <a:extLst>
              <a:ext uri="{FF2B5EF4-FFF2-40B4-BE49-F238E27FC236}">
                <a16:creationId xmlns:a16="http://schemas.microsoft.com/office/drawing/2014/main" id="{715695C3-05DA-43C4-930B-222ED6C42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775" y="1753196"/>
            <a:ext cx="7203281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3375"/>
              </a:lnSpc>
            </a:pPr>
            <a:r>
              <a:rPr lang="en-US" altLang="en-US" sz="3200" b="1" dirty="0">
                <a:latin typeface="Bell MT" panose="02020503060305020303" pitchFamily="18" charset="0"/>
                <a:ea typeface="Spline Sans Bold"/>
                <a:cs typeface="Spline Sans Bold"/>
              </a:rPr>
              <a:t>Challenges with Manual Electricity Bill Filling</a:t>
            </a:r>
            <a:endParaRPr lang="en-US" altLang="en-US" sz="3200" dirty="0">
              <a:latin typeface="Bell MT" panose="02020503060305020303" pitchFamily="18" charset="0"/>
            </a:endParaRPr>
          </a:p>
        </p:txBody>
      </p:sp>
      <p:sp>
        <p:nvSpPr>
          <p:cNvPr id="30723" name="Text 1">
            <a:extLst>
              <a:ext uri="{FF2B5EF4-FFF2-40B4-BE49-F238E27FC236}">
                <a16:creationId xmlns:a16="http://schemas.microsoft.com/office/drawing/2014/main" id="{34574EDB-18CD-4EED-BFE6-28C02561D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992437"/>
            <a:ext cx="17145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688"/>
              </a:lnSpc>
            </a:pPr>
            <a:r>
              <a:rPr lang="en-US" altLang="en-US" sz="2000" b="1">
                <a:latin typeface="Times New Roman" panose="02020603050405020304" pitchFamily="18" charset="0"/>
                <a:ea typeface="Spline Sans Bold"/>
                <a:cs typeface="Times New Roman" panose="02020603050405020304" pitchFamily="18" charset="0"/>
              </a:rPr>
              <a:t>Time-Consuming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24" name="Text 2">
            <a:extLst>
              <a:ext uri="{FF2B5EF4-FFF2-40B4-BE49-F238E27FC236}">
                <a16:creationId xmlns:a16="http://schemas.microsoft.com/office/drawing/2014/main" id="{A9B9D877-FED2-40C2-ADB4-1748B56B3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361532"/>
            <a:ext cx="2436813" cy="740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938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Manually filling out electricity bills is a labor-intensive and time-consuming process.</a:t>
            </a:r>
          </a:p>
        </p:txBody>
      </p:sp>
      <p:sp>
        <p:nvSpPr>
          <p:cNvPr id="30725" name="Text 3">
            <a:extLst>
              <a:ext uri="{FF2B5EF4-FFF2-40B4-BE49-F238E27FC236}">
                <a16:creationId xmlns:a16="http://schemas.microsoft.com/office/drawing/2014/main" id="{598B1668-5A13-4661-9AA1-243B4F64C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7563" y="2992437"/>
            <a:ext cx="17145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688"/>
              </a:lnSpc>
            </a:pPr>
            <a:r>
              <a:rPr lang="en-US" altLang="en-US" sz="2000" b="1">
                <a:latin typeface="Times New Roman" panose="02020603050405020304" pitchFamily="18" charset="0"/>
                <a:ea typeface="Spline Sans Bold"/>
                <a:cs typeface="Times New Roman" panose="02020603050405020304" pitchFamily="18" charset="0"/>
              </a:rPr>
              <a:t>Inaccuracies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26" name="Text 4">
            <a:extLst>
              <a:ext uri="{FF2B5EF4-FFF2-40B4-BE49-F238E27FC236}">
                <a16:creationId xmlns:a16="http://schemas.microsoft.com/office/drawing/2014/main" id="{B8C8B131-233C-4010-81B1-FF9F96F2F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7562" y="3361532"/>
            <a:ext cx="2436813" cy="740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938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Human error can lead to mistakes in bill calculations and customer information.</a:t>
            </a:r>
          </a:p>
        </p:txBody>
      </p:sp>
      <p:sp>
        <p:nvSpPr>
          <p:cNvPr id="30727" name="Text 5">
            <a:extLst>
              <a:ext uri="{FF2B5EF4-FFF2-40B4-BE49-F238E27FC236}">
                <a16:creationId xmlns:a16="http://schemas.microsoft.com/office/drawing/2014/main" id="{367D37B4-46D8-4F6E-BBF0-389447F2C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5375" y="2992437"/>
            <a:ext cx="2046883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688"/>
              </a:lnSpc>
            </a:pPr>
            <a:r>
              <a:rPr lang="en-US" altLang="en-US" sz="2000" b="1">
                <a:latin typeface="Times New Roman" panose="02020603050405020304" pitchFamily="18" charset="0"/>
                <a:ea typeface="Spline Sans Bold"/>
                <a:cs typeface="Times New Roman" panose="02020603050405020304" pitchFamily="18" charset="0"/>
              </a:rPr>
              <a:t>Customer Dissatisfaction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28" name="Text 6">
            <a:extLst>
              <a:ext uri="{FF2B5EF4-FFF2-40B4-BE49-F238E27FC236}">
                <a16:creationId xmlns:a16="http://schemas.microsoft.com/office/drawing/2014/main" id="{3D7C9D1F-13C6-4EF3-AA1C-D8F5352BA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5375" y="3361532"/>
            <a:ext cx="2436813" cy="740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938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Delays and errors in the billing process can result in customer frustration and complaints.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19BB7F-FF26-42AA-BEAE-2A8E01F581A2}"/>
              </a:ext>
            </a:extLst>
          </p:cNvPr>
          <p:cNvSpPr/>
          <p:nvPr/>
        </p:nvSpPr>
        <p:spPr>
          <a:xfrm>
            <a:off x="8007946" y="6993930"/>
            <a:ext cx="1059656" cy="23018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125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46138"/>
            <a:ext cx="8229600" cy="114300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5930" y="2501719"/>
            <a:ext cx="8229600" cy="4525963"/>
          </a:xfrm>
        </p:spPr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electricity bill download process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 Payment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the process for regular execution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25086"/>
            <a:ext cx="8229600" cy="1143000"/>
          </a:xfrm>
        </p:spPr>
        <p:txBody>
          <a:bodyPr>
            <a:normAutofit/>
          </a:bodyPr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5991" y="2526933"/>
            <a:ext cx="8229600" cy="4525963"/>
          </a:xfrm>
        </p:spPr>
        <p:txBody>
          <a:bodyPr>
            <a:normAutofit/>
          </a:bodyPr>
          <a:lstStyle/>
          <a:p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UiPath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Studio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for data storage</a:t>
            </a:r>
          </a:p>
          <a:p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Mahadiscom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portal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0">
            <a:extLst>
              <a:ext uri="{FF2B5EF4-FFF2-40B4-BE49-F238E27FC236}">
                <a16:creationId xmlns:a16="http://schemas.microsoft.com/office/drawing/2014/main" id="{F851DF53-5968-4BFC-8996-0C0304E9C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508" y="1530946"/>
            <a:ext cx="6068219" cy="418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3281"/>
              </a:lnSpc>
            </a:pPr>
            <a:r>
              <a:rPr lang="en-US" altLang="en-US" sz="3200" b="1" dirty="0">
                <a:latin typeface="Times New Roman" panose="02020603050405020304" pitchFamily="18" charset="0"/>
                <a:ea typeface="Spline Sans Bold"/>
                <a:cs typeface="Times New Roman" panose="02020603050405020304" pitchFamily="18" charset="0"/>
              </a:rPr>
              <a:t>Overview of </a:t>
            </a:r>
            <a:r>
              <a:rPr lang="en-US" altLang="en-US" sz="3200" b="1" dirty="0" err="1">
                <a:latin typeface="Times New Roman" panose="02020603050405020304" pitchFamily="18" charset="0"/>
                <a:ea typeface="Spline Sans Bold"/>
                <a:cs typeface="Times New Roman" panose="02020603050405020304" pitchFamily="18" charset="0"/>
              </a:rPr>
              <a:t>UiPath</a:t>
            </a:r>
            <a:r>
              <a:rPr lang="en-US" altLang="en-US" sz="3200" b="1" dirty="0">
                <a:latin typeface="Times New Roman" panose="02020603050405020304" pitchFamily="18" charset="0"/>
                <a:ea typeface="Spline Sans Bold"/>
                <a:cs typeface="Times New Roman" panose="02020603050405020304" pitchFamily="18" charset="0"/>
              </a:rPr>
              <a:t> and its Capabilities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771" name="Image 1" descr="preencoded.png">
            <a:extLst>
              <a:ext uri="{FF2B5EF4-FFF2-40B4-BE49-F238E27FC236}">
                <a16:creationId xmlns:a16="http://schemas.microsoft.com/office/drawing/2014/main" id="{35F51D64-BC8D-4A37-9CBB-5EF26BB311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508" y="2421930"/>
            <a:ext cx="376039" cy="377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2" name="Text 1">
            <a:extLst>
              <a:ext uri="{FF2B5EF4-FFF2-40B4-BE49-F238E27FC236}">
                <a16:creationId xmlns:a16="http://schemas.microsoft.com/office/drawing/2014/main" id="{2A03EB71-0892-4E88-8022-F3AC322C3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509" y="2948782"/>
            <a:ext cx="1672828" cy="209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625"/>
              </a:lnSpc>
            </a:pPr>
            <a:r>
              <a:rPr lang="en-US" altLang="en-US" b="1">
                <a:latin typeface="Times New Roman" panose="02020603050405020304" pitchFamily="18" charset="0"/>
                <a:ea typeface="Spline Sans Bold"/>
                <a:cs typeface="Times New Roman" panose="02020603050405020304" pitchFamily="18" charset="0"/>
              </a:rPr>
              <a:t>Automation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3" name="Text 2">
            <a:extLst>
              <a:ext uri="{FF2B5EF4-FFF2-40B4-BE49-F238E27FC236}">
                <a16:creationId xmlns:a16="http://schemas.microsoft.com/office/drawing/2014/main" id="{E7627AB4-B3F6-431E-B892-363BB8613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509" y="3248422"/>
            <a:ext cx="2545953" cy="72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75"/>
              </a:lnSpc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UiPath is a leading Robotic Process Automation (RPA) tool that can automate repetitive, rule-based tasks.</a:t>
            </a:r>
          </a:p>
        </p:txBody>
      </p:sp>
      <p:pic>
        <p:nvPicPr>
          <p:cNvPr id="32774" name="Image 2" descr="preencoded.png">
            <a:extLst>
              <a:ext uri="{FF2B5EF4-FFF2-40B4-BE49-F238E27FC236}">
                <a16:creationId xmlns:a16="http://schemas.microsoft.com/office/drawing/2014/main" id="{094BA468-77FE-49AC-B985-3B6BDC5661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5680" y="2421930"/>
            <a:ext cx="376039" cy="377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5" name="Text 3">
            <a:extLst>
              <a:ext uri="{FF2B5EF4-FFF2-40B4-BE49-F238E27FC236}">
                <a16:creationId xmlns:a16="http://schemas.microsoft.com/office/drawing/2014/main" id="{187AD277-6CF5-4FF2-BD71-9F3624DFC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5680" y="2948782"/>
            <a:ext cx="1672828" cy="209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625"/>
              </a:lnSpc>
            </a:pPr>
            <a:r>
              <a:rPr lang="en-US" altLang="en-US" b="1">
                <a:latin typeface="Times New Roman" panose="02020603050405020304" pitchFamily="18" charset="0"/>
                <a:ea typeface="Spline Sans Bold"/>
                <a:cs typeface="Times New Roman" panose="02020603050405020304" pitchFamily="18" charset="0"/>
              </a:rPr>
              <a:t>Data Processing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6" name="Text 4">
            <a:extLst>
              <a:ext uri="{FF2B5EF4-FFF2-40B4-BE49-F238E27FC236}">
                <a16:creationId xmlns:a16="http://schemas.microsoft.com/office/drawing/2014/main" id="{B726B9E1-EE8D-40B3-8432-E1CAF5A75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5680" y="3248422"/>
            <a:ext cx="2545953" cy="72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75"/>
              </a:lnSpc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UiPath can extract, manipulate, and input data from various sources with high accuracy.</a:t>
            </a:r>
          </a:p>
        </p:txBody>
      </p:sp>
      <p:pic>
        <p:nvPicPr>
          <p:cNvPr id="32777" name="Image 3" descr="preencoded.png">
            <a:extLst>
              <a:ext uri="{FF2B5EF4-FFF2-40B4-BE49-F238E27FC236}">
                <a16:creationId xmlns:a16="http://schemas.microsoft.com/office/drawing/2014/main" id="{3BD6789A-D133-47E0-B1D9-658E0C8689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7852" y="2421930"/>
            <a:ext cx="376039" cy="377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8" name="Text 5">
            <a:extLst>
              <a:ext uri="{FF2B5EF4-FFF2-40B4-BE49-F238E27FC236}">
                <a16:creationId xmlns:a16="http://schemas.microsoft.com/office/drawing/2014/main" id="{F849CD33-4DFD-4F08-A1DA-824C9CAE9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7852" y="2948782"/>
            <a:ext cx="1672828" cy="209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625"/>
              </a:lnSpc>
            </a:pPr>
            <a:r>
              <a:rPr lang="en-US" altLang="en-US" b="1">
                <a:latin typeface="Times New Roman" panose="02020603050405020304" pitchFamily="18" charset="0"/>
                <a:ea typeface="Spline Sans Bold"/>
                <a:cs typeface="Times New Roman" panose="02020603050405020304" pitchFamily="18" charset="0"/>
              </a:rPr>
              <a:t>Scalability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9" name="Text 6">
            <a:extLst>
              <a:ext uri="{FF2B5EF4-FFF2-40B4-BE49-F238E27FC236}">
                <a16:creationId xmlns:a16="http://schemas.microsoft.com/office/drawing/2014/main" id="{0900CCFB-09CF-4C58-9B30-3F96D7FF4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7852" y="3248422"/>
            <a:ext cx="2545953" cy="72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875"/>
              </a:lnSpc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UiPath's scalable platform can handle large-scale automation projects with ease.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5A72D1-8BC6-4330-BEBB-88E7026E6828}"/>
              </a:ext>
            </a:extLst>
          </p:cNvPr>
          <p:cNvSpPr/>
          <p:nvPr/>
        </p:nvSpPr>
        <p:spPr>
          <a:xfrm>
            <a:off x="7907735" y="3956844"/>
            <a:ext cx="1152922" cy="3016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125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614" y="1236172"/>
            <a:ext cx="8229600" cy="114300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4845" y="2524027"/>
            <a:ext cx="8229600" cy="4525963"/>
          </a:xfrm>
        </p:spPr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consumer number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Navigate website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bill / extract data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 Bills Automatically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B6EEF485-6419-4F1E-B636-DDE5AB35D25B}"/>
              </a:ext>
            </a:extLst>
          </p:cNvPr>
          <p:cNvSpPr/>
          <p:nvPr/>
        </p:nvSpPr>
        <p:spPr>
          <a:xfrm>
            <a:off x="481211" y="1249165"/>
            <a:ext cx="8164711" cy="790773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>
              <a:lnSpc>
                <a:spcPts val="3094"/>
              </a:lnSpc>
              <a:defRPr/>
            </a:pPr>
            <a:r>
              <a:rPr lang="en-US" sz="2800" b="1" dirty="0"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Step-by-Step Process of Automating Bill Filling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19" name="Shape 1">
            <a:extLst>
              <a:ext uri="{FF2B5EF4-FFF2-40B4-BE49-F238E27FC236}">
                <a16:creationId xmlns:a16="http://schemas.microsoft.com/office/drawing/2014/main" id="{1B952959-4904-4BAC-A3C7-AB1E4F8E1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719" y="2005212"/>
            <a:ext cx="18852" cy="3355578"/>
          </a:xfrm>
          <a:prstGeom prst="roundRect">
            <a:avLst>
              <a:gd name="adj" fmla="val 1121537"/>
            </a:avLst>
          </a:prstGeom>
          <a:solidFill>
            <a:srgbClr val="FFFFFF">
              <a:alpha val="2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20" name="Text 4">
            <a:extLst>
              <a:ext uri="{FF2B5EF4-FFF2-40B4-BE49-F238E27FC236}">
                <a16:creationId xmlns:a16="http://schemas.microsoft.com/office/drawing/2014/main" id="{59677A08-D573-482C-9FBD-4E294FE53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969" y="2230438"/>
            <a:ext cx="82352" cy="189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ts val="1469"/>
              </a:lnSpc>
            </a:pPr>
            <a:r>
              <a:rPr lang="en-US" altLang="en-US" sz="2400" b="1">
                <a:latin typeface="Times New Roman" panose="02020603050405020304" pitchFamily="18" charset="0"/>
                <a:ea typeface="Spline Sans Bold"/>
                <a:cs typeface="Times New Roman" panose="02020603050405020304" pitchFamily="18" charset="0"/>
              </a:rPr>
              <a:t>1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21" name="Text 5">
            <a:extLst>
              <a:ext uri="{FF2B5EF4-FFF2-40B4-BE49-F238E27FC236}">
                <a16:creationId xmlns:a16="http://schemas.microsoft.com/office/drawing/2014/main" id="{58B55A64-4C0D-4F95-8F68-0C8EA302E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477" y="2147094"/>
            <a:ext cx="1582539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531"/>
              </a:lnSpc>
            </a:pPr>
            <a:r>
              <a:rPr lang="en-US" altLang="en-US" sz="2000" b="1">
                <a:latin typeface="Times New Roman" panose="02020603050405020304" pitchFamily="18" charset="0"/>
                <a:ea typeface="Spline Sans Bold"/>
                <a:cs typeface="Times New Roman" panose="02020603050405020304" pitchFamily="18" charset="0"/>
              </a:rPr>
              <a:t>Data Extraction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22" name="Text 6">
            <a:extLst>
              <a:ext uri="{FF2B5EF4-FFF2-40B4-BE49-F238E27FC236}">
                <a16:creationId xmlns:a16="http://schemas.microsoft.com/office/drawing/2014/main" id="{2AAFF4EA-9F08-4D33-BD70-947DDAA7A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1405" y="2440782"/>
            <a:ext cx="5618759" cy="455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781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retrieve customer and billing information from the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Mahavitaran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website.</a:t>
            </a:r>
          </a:p>
        </p:txBody>
      </p:sp>
      <p:sp>
        <p:nvSpPr>
          <p:cNvPr id="34823" name="Text 9">
            <a:extLst>
              <a:ext uri="{FF2B5EF4-FFF2-40B4-BE49-F238E27FC236}">
                <a16:creationId xmlns:a16="http://schemas.microsoft.com/office/drawing/2014/main" id="{4950C793-6A83-4F10-8D75-0BBD71206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055" y="3396258"/>
            <a:ext cx="105172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ts val="1469"/>
              </a:lnSpc>
            </a:pPr>
            <a:r>
              <a:rPr lang="en-US" altLang="en-US" sz="2400" b="1">
                <a:latin typeface="Times New Roman" panose="02020603050405020304" pitchFamily="18" charset="0"/>
                <a:ea typeface="Spline Sans Bold"/>
                <a:cs typeface="Times New Roman" panose="02020603050405020304" pitchFamily="18" charset="0"/>
              </a:rPr>
              <a:t>2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24" name="Text 10">
            <a:extLst>
              <a:ext uri="{FF2B5EF4-FFF2-40B4-BE49-F238E27FC236}">
                <a16:creationId xmlns:a16="http://schemas.microsoft.com/office/drawing/2014/main" id="{53BC46F6-4FE5-4F5E-A8FE-E2DD2957B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477" y="3313906"/>
            <a:ext cx="1582539" cy="197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531"/>
              </a:lnSpc>
            </a:pPr>
            <a:r>
              <a:rPr lang="en-US" altLang="en-US" sz="2000" b="1" dirty="0">
                <a:latin typeface="Times New Roman" panose="02020603050405020304" pitchFamily="18" charset="0"/>
                <a:ea typeface="Spline Sans Bold"/>
                <a:cs typeface="Times New Roman" panose="02020603050405020304" pitchFamily="18" charset="0"/>
              </a:rPr>
              <a:t>Data Processing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25" name="Text 11">
            <a:extLst>
              <a:ext uri="{FF2B5EF4-FFF2-40B4-BE49-F238E27FC236}">
                <a16:creationId xmlns:a16="http://schemas.microsoft.com/office/drawing/2014/main" id="{B032E5E1-8EC6-4232-9EDC-690D052FE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1406" y="3584774"/>
            <a:ext cx="5618758" cy="455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781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Validate, format, and prepare the data for seamless integration into the bill filling process.</a:t>
            </a:r>
          </a:p>
        </p:txBody>
      </p:sp>
      <p:sp>
        <p:nvSpPr>
          <p:cNvPr id="34826" name="Text 14">
            <a:extLst>
              <a:ext uri="{FF2B5EF4-FFF2-40B4-BE49-F238E27FC236}">
                <a16:creationId xmlns:a16="http://schemas.microsoft.com/office/drawing/2014/main" id="{006E93AA-91DB-4088-97F6-7637C3FA7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078" y="4563070"/>
            <a:ext cx="111125" cy="189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ts val="1469"/>
              </a:lnSpc>
            </a:pPr>
            <a:r>
              <a:rPr lang="en-US" altLang="en-US" sz="2400" b="1">
                <a:latin typeface="Times New Roman" panose="02020603050405020304" pitchFamily="18" charset="0"/>
                <a:ea typeface="Spline Sans Bold"/>
                <a:cs typeface="Times New Roman" panose="02020603050405020304" pitchFamily="18" charset="0"/>
              </a:rPr>
              <a:t>3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27" name="Text 15">
            <a:extLst>
              <a:ext uri="{FF2B5EF4-FFF2-40B4-BE49-F238E27FC236}">
                <a16:creationId xmlns:a16="http://schemas.microsoft.com/office/drawing/2014/main" id="{0CB60423-532A-41C9-A879-15EE228A7D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477" y="4479727"/>
            <a:ext cx="1582539" cy="197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531"/>
              </a:lnSpc>
            </a:pPr>
            <a:r>
              <a:rPr lang="en-US" altLang="en-US" sz="2000" b="1" dirty="0">
                <a:latin typeface="Times New Roman" panose="02020603050405020304" pitchFamily="18" charset="0"/>
                <a:ea typeface="Spline Sans Bold"/>
                <a:cs typeface="Times New Roman" panose="02020603050405020304" pitchFamily="18" charset="0"/>
              </a:rPr>
              <a:t>Bill Filling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28" name="Text 16">
            <a:extLst>
              <a:ext uri="{FF2B5EF4-FFF2-40B4-BE49-F238E27FC236}">
                <a16:creationId xmlns:a16="http://schemas.microsoft.com/office/drawing/2014/main" id="{00CEF077-4672-4293-A997-9C55F68C1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1405" y="4728766"/>
            <a:ext cx="5446117" cy="456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781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fill out and submit the electricity bills on the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Mahavitaran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149DC2-A9C3-4E31-A2F5-9B059764AB7D}"/>
              </a:ext>
            </a:extLst>
          </p:cNvPr>
          <p:cNvSpPr/>
          <p:nvPr/>
        </p:nvSpPr>
        <p:spPr>
          <a:xfrm>
            <a:off x="7980165" y="5609828"/>
            <a:ext cx="1144984" cy="39092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125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6745"/>
            <a:ext cx="8229600" cy="1143000"/>
          </a:xfrm>
        </p:spPr>
        <p:txBody>
          <a:bodyPr>
            <a:normAutofit/>
          </a:bodyPr>
          <a:lstStyle/>
          <a:p>
            <a:r>
              <a:rPr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UiPath</a:t>
            </a:r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637149"/>
            <a:ext cx="8229600" cy="4525963"/>
          </a:xfrm>
        </p:spPr>
        <p:txBody>
          <a:bodyPr>
            <a:normAutofit/>
          </a:bodyPr>
          <a:lstStyle/>
          <a:p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Main.xaml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 workflows: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Login.xaml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Download.xaml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Extract.xaml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structure for reusability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1296"/>
            <a:ext cx="8229600" cy="114300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 the 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3893" y="2212943"/>
            <a:ext cx="8229600" cy="4525963"/>
          </a:xfrm>
        </p:spPr>
        <p:txBody>
          <a:bodyPr>
            <a:normAutofit/>
          </a:bodyPr>
          <a:lstStyle/>
          <a:p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UiPath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Orchestrator / Task Scheduler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Frequency: Daily, Weekly, etc.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notification setup (if required)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0">
            <a:extLst>
              <a:ext uri="{FF2B5EF4-FFF2-40B4-BE49-F238E27FC236}">
                <a16:creationId xmlns:a16="http://schemas.microsoft.com/office/drawing/2014/main" id="{C411B3AE-19BE-4319-9E58-5913B0974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13" y="924638"/>
            <a:ext cx="8529310" cy="820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3219"/>
              </a:lnSpc>
            </a:pPr>
            <a:r>
              <a:rPr lang="en-US" altLang="en-US" sz="3200" b="1" dirty="0">
                <a:latin typeface="Times New Roman" panose="02020603050405020304" pitchFamily="18" charset="0"/>
                <a:ea typeface="Spline Sans Bold"/>
                <a:cs typeface="Times New Roman" panose="02020603050405020304" pitchFamily="18" charset="0"/>
              </a:rPr>
              <a:t>Benefits of Automating the </a:t>
            </a:r>
            <a:r>
              <a:rPr lang="en-US" altLang="en-US" sz="3200" b="1" dirty="0" err="1">
                <a:latin typeface="Times New Roman" panose="02020603050405020304" pitchFamily="18" charset="0"/>
                <a:ea typeface="Spline Sans Bold"/>
                <a:cs typeface="Times New Roman" panose="02020603050405020304" pitchFamily="18" charset="0"/>
              </a:rPr>
              <a:t>Mahavitaran</a:t>
            </a:r>
            <a:r>
              <a:rPr lang="en-US" altLang="en-US" sz="3200" b="1" dirty="0">
                <a:latin typeface="Times New Roman" panose="02020603050405020304" pitchFamily="18" charset="0"/>
                <a:ea typeface="Spline Sans Bold"/>
                <a:cs typeface="Times New Roman" panose="02020603050405020304" pitchFamily="18" charset="0"/>
              </a:rPr>
              <a:t> Website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08" name="Shape 1">
            <a:extLst>
              <a:ext uri="{FF2B5EF4-FFF2-40B4-BE49-F238E27FC236}">
                <a16:creationId xmlns:a16="http://schemas.microsoft.com/office/drawing/2014/main" id="{BA61D85A-86E8-40C3-AA3D-1F88AA6A8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9844" y="2011164"/>
            <a:ext cx="2267149" cy="1563688"/>
          </a:xfrm>
          <a:prstGeom prst="roundRect">
            <a:avLst>
              <a:gd name="adj" fmla="val 14176"/>
            </a:avLst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2D77AD0-9ED5-4F3C-9D6E-F5710529B0C0}"/>
              </a:ext>
            </a:extLst>
          </p:cNvPr>
          <p:cNvSpPr/>
          <p:nvPr/>
        </p:nvSpPr>
        <p:spPr>
          <a:xfrm>
            <a:off x="1451571" y="2173883"/>
            <a:ext cx="1642070" cy="204391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>
              <a:lnSpc>
                <a:spcPts val="1594"/>
              </a:lnSpc>
              <a:defRPr/>
            </a:pPr>
            <a:r>
              <a:rPr lang="en-US" sz="1600" b="1" dirty="0"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Increased Efficiency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2060F1B-0445-4F61-B8C4-B9162D975681}"/>
              </a:ext>
            </a:extLst>
          </p:cNvPr>
          <p:cNvSpPr/>
          <p:nvPr/>
        </p:nvSpPr>
        <p:spPr>
          <a:xfrm>
            <a:off x="1451571" y="2467571"/>
            <a:ext cx="1942703" cy="708422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>
              <a:lnSpc>
                <a:spcPts val="1844"/>
              </a:lnSpc>
              <a:defRPr/>
            </a:pPr>
            <a:r>
              <a:rPr lang="en-US" sz="1400" dirty="0"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Automated bill filling reduces processing time and improves overall operational efficiency.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870" name="Shape 4">
            <a:extLst>
              <a:ext uri="{FF2B5EF4-FFF2-40B4-BE49-F238E27FC236}">
                <a16:creationId xmlns:a16="http://schemas.microsoft.com/office/drawing/2014/main" id="{92F57F3C-EC14-4415-BD72-3D3A7E271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9649" y="2011164"/>
            <a:ext cx="2267148" cy="1563688"/>
          </a:xfrm>
          <a:prstGeom prst="roundRect">
            <a:avLst>
              <a:gd name="adj" fmla="val 14176"/>
            </a:avLst>
          </a:prstGeom>
          <a:noFill/>
          <a:ln w="22860">
            <a:solidFill>
              <a:srgbClr val="29DDD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0D4805E-F556-49EF-9B8F-2B5EDB023BEB}"/>
              </a:ext>
            </a:extLst>
          </p:cNvPr>
          <p:cNvSpPr/>
          <p:nvPr/>
        </p:nvSpPr>
        <p:spPr>
          <a:xfrm>
            <a:off x="5922368" y="2173883"/>
            <a:ext cx="1641078" cy="204391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>
              <a:lnSpc>
                <a:spcPts val="1594"/>
              </a:lnSpc>
              <a:defRPr/>
            </a:pPr>
            <a:r>
              <a:rPr lang="en-US" sz="1600" b="1" dirty="0"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Improved Accuracy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E526082-E853-4ED8-8A28-D3120B15050B}"/>
              </a:ext>
            </a:extLst>
          </p:cNvPr>
          <p:cNvSpPr/>
          <p:nvPr/>
        </p:nvSpPr>
        <p:spPr>
          <a:xfrm>
            <a:off x="5922368" y="2467571"/>
            <a:ext cx="1942703" cy="945554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>
              <a:lnSpc>
                <a:spcPts val="1844"/>
              </a:lnSpc>
              <a:defRPr/>
            </a:pPr>
            <a:r>
              <a:rPr lang="en-US" sz="1400" dirty="0"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Automation eliminates human error, ensuring accurate billing and customer information.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873" name="Shape 7">
            <a:extLst>
              <a:ext uri="{FF2B5EF4-FFF2-40B4-BE49-F238E27FC236}">
                <a16:creationId xmlns:a16="http://schemas.microsoft.com/office/drawing/2014/main" id="{84C87BBC-AE40-4891-9090-32302D782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9844" y="3722688"/>
            <a:ext cx="2267149" cy="1562696"/>
          </a:xfrm>
          <a:prstGeom prst="roundRect">
            <a:avLst>
              <a:gd name="adj" fmla="val 14176"/>
            </a:avLst>
          </a:prstGeom>
          <a:noFill/>
          <a:ln w="22860">
            <a:solidFill>
              <a:srgbClr val="37A7E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34FFAA9-5B73-479A-9BAF-D8B2180EA052}"/>
              </a:ext>
            </a:extLst>
          </p:cNvPr>
          <p:cNvSpPr/>
          <p:nvPr/>
        </p:nvSpPr>
        <p:spPr>
          <a:xfrm>
            <a:off x="1451571" y="3884415"/>
            <a:ext cx="1942703" cy="410766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>
              <a:lnSpc>
                <a:spcPts val="1594"/>
              </a:lnSpc>
              <a:defRPr/>
            </a:pPr>
            <a:r>
              <a:rPr lang="en-US" sz="1600" b="1" dirty="0"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Enhanced Customer Experience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3DF46DBF-9B67-4159-90A6-8722D8A4F104}"/>
              </a:ext>
            </a:extLst>
          </p:cNvPr>
          <p:cNvSpPr/>
          <p:nvPr/>
        </p:nvSpPr>
        <p:spPr>
          <a:xfrm>
            <a:off x="1451571" y="4383485"/>
            <a:ext cx="1942703" cy="708422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>
              <a:lnSpc>
                <a:spcPts val="1844"/>
              </a:lnSpc>
              <a:defRPr/>
            </a:pPr>
            <a:r>
              <a:rPr lang="en-US" sz="1400" dirty="0"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Faster and more reliable bill processing leads to greater customer satisfaction.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17" name="Shape 10">
            <a:extLst>
              <a:ext uri="{FF2B5EF4-FFF2-40B4-BE49-F238E27FC236}">
                <a16:creationId xmlns:a16="http://schemas.microsoft.com/office/drawing/2014/main" id="{6CC96685-8648-4D51-8F9F-A2F367B0B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9649" y="3722688"/>
            <a:ext cx="2267148" cy="1562696"/>
          </a:xfrm>
          <a:prstGeom prst="roundRect">
            <a:avLst>
              <a:gd name="adj" fmla="val 14176"/>
            </a:avLst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66F36D65-8B65-4A38-AA69-E0F6E1BDCE42}"/>
              </a:ext>
            </a:extLst>
          </p:cNvPr>
          <p:cNvSpPr/>
          <p:nvPr/>
        </p:nvSpPr>
        <p:spPr>
          <a:xfrm>
            <a:off x="5922368" y="3884414"/>
            <a:ext cx="1641078" cy="205383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>
              <a:lnSpc>
                <a:spcPts val="1594"/>
              </a:lnSpc>
              <a:defRPr/>
            </a:pPr>
            <a:r>
              <a:rPr lang="en-US" sz="1600" b="1" dirty="0"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Cost Savings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3F0882D-0E19-445F-8AA8-4B13FE794459}"/>
              </a:ext>
            </a:extLst>
          </p:cNvPr>
          <p:cNvSpPr/>
          <p:nvPr/>
        </p:nvSpPr>
        <p:spPr>
          <a:xfrm>
            <a:off x="5922368" y="4178102"/>
            <a:ext cx="1942703" cy="945554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>
              <a:lnSpc>
                <a:spcPts val="1844"/>
              </a:lnSpc>
              <a:defRPr/>
            </a:pPr>
            <a:r>
              <a:rPr lang="en-US" sz="1400" dirty="0"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Automation reduces the need for manual labor, resulting in significant cost savings for Mahavitaran.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0">
            <a:extLst>
              <a:ext uri="{FF2B5EF4-FFF2-40B4-BE49-F238E27FC236}">
                <a16:creationId xmlns:a16="http://schemas.microsoft.com/office/drawing/2014/main" id="{8AFDDC6D-4A35-4A08-91EC-8105188D9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118" y="1040677"/>
            <a:ext cx="8368078" cy="781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3063"/>
              </a:lnSpc>
            </a:pPr>
            <a:r>
              <a:rPr lang="en-US" altLang="en-US" sz="3200" b="1" dirty="0">
                <a:latin typeface="Times New Roman" panose="02020603050405020304" pitchFamily="18" charset="0"/>
                <a:ea typeface="Spline Sans Bold"/>
                <a:cs typeface="Times New Roman" panose="02020603050405020304" pitchFamily="18" charset="0"/>
              </a:rPr>
              <a:t>Potential Roadblocks 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15" name="Text 1">
            <a:extLst>
              <a:ext uri="{FF2B5EF4-FFF2-40B4-BE49-F238E27FC236}">
                <a16:creationId xmlns:a16="http://schemas.microsoft.com/office/drawing/2014/main" id="{51176F9F-D10A-4FE7-A030-27874A933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531" y="2182813"/>
            <a:ext cx="1680766" cy="195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marL="455613" indent="-4556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531"/>
              </a:lnSpc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ea typeface="Spline Sans Bold"/>
                <a:cs typeface="Times New Roman" panose="02020603050405020304" pitchFamily="18" charset="0"/>
              </a:rPr>
              <a:t>Integration Challenges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16" name="Text 2">
            <a:extLst>
              <a:ext uri="{FF2B5EF4-FFF2-40B4-BE49-F238E27FC236}">
                <a16:creationId xmlns:a16="http://schemas.microsoft.com/office/drawing/2014/main" id="{6562698E-A6CC-4930-9CFA-2FF67923F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4516" y="2462610"/>
            <a:ext cx="5670243" cy="449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750"/>
              </a:lnSpc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Seamlessly integrating the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UiPath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automation with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Mahavitaran's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systems and processes.</a:t>
            </a:r>
          </a:p>
        </p:txBody>
      </p:sp>
      <p:sp>
        <p:nvSpPr>
          <p:cNvPr id="38917" name="Text 3">
            <a:extLst>
              <a:ext uri="{FF2B5EF4-FFF2-40B4-BE49-F238E27FC236}">
                <a16:creationId xmlns:a16="http://schemas.microsoft.com/office/drawing/2014/main" id="{E795B752-D170-4E58-8113-81457A49D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531" y="3307953"/>
            <a:ext cx="1575594" cy="195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marL="455613" indent="-4556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531"/>
              </a:lnSpc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ea typeface="Spline Sans Bold"/>
                <a:cs typeface="Times New Roman" panose="02020603050405020304" pitchFamily="18" charset="0"/>
              </a:rPr>
              <a:t>Change Management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18" name="Text 4">
            <a:extLst>
              <a:ext uri="{FF2B5EF4-FFF2-40B4-BE49-F238E27FC236}">
                <a16:creationId xmlns:a16="http://schemas.microsoft.com/office/drawing/2014/main" id="{7D8B709D-8188-4EF5-AF7A-8781DD4E0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4516" y="3608586"/>
            <a:ext cx="5670243" cy="449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750"/>
              </a:lnSpc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a smooth transition and employee adoption of the new automated system.</a:t>
            </a:r>
          </a:p>
        </p:txBody>
      </p:sp>
      <p:sp>
        <p:nvSpPr>
          <p:cNvPr id="38919" name="Text 5">
            <a:extLst>
              <a:ext uri="{FF2B5EF4-FFF2-40B4-BE49-F238E27FC236}">
                <a16:creationId xmlns:a16="http://schemas.microsoft.com/office/drawing/2014/main" id="{07EBD5B8-4EFD-44D2-A74F-1B9871A51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531" y="4434086"/>
            <a:ext cx="1563688" cy="195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marL="455613" indent="-4556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531"/>
              </a:lnSpc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ea typeface="Spline Sans Bold"/>
                <a:cs typeface="Times New Roman" panose="02020603050405020304" pitchFamily="18" charset="0"/>
              </a:rPr>
              <a:t>Scalability Concerns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20" name="Text 6">
            <a:extLst>
              <a:ext uri="{FF2B5EF4-FFF2-40B4-BE49-F238E27FC236}">
                <a16:creationId xmlns:a16="http://schemas.microsoft.com/office/drawing/2014/main" id="{3A70282E-CE9D-48D4-AD6C-9EC2DDE3BB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4516" y="4667250"/>
            <a:ext cx="5670243" cy="450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750"/>
              </a:lnSpc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the automation can handle increasing volumes of bills and customer data.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0">
            <a:extLst>
              <a:ext uri="{FF2B5EF4-FFF2-40B4-BE49-F238E27FC236}">
                <a16:creationId xmlns:a16="http://schemas.microsoft.com/office/drawing/2014/main" id="{4F58CF13-FF69-4506-BE73-06AA3CDA0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4913" y="947944"/>
            <a:ext cx="5658612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ts val="3375"/>
              </a:lnSpc>
            </a:pPr>
            <a:r>
              <a:rPr lang="en-US" altLang="en-US" sz="4000" b="1" dirty="0">
                <a:latin typeface="Times New Roman" panose="02020603050405020304" pitchFamily="18" charset="0"/>
                <a:ea typeface="Spline Sans Bold"/>
                <a:cs typeface="Times New Roman" panose="02020603050405020304" pitchFamily="18" charset="0"/>
              </a:rPr>
              <a:t>Future Scope</a:t>
            </a:r>
            <a:endParaRPr lang="en-US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63" name="Shape 1">
            <a:extLst>
              <a:ext uri="{FF2B5EF4-FFF2-40B4-BE49-F238E27FC236}">
                <a16:creationId xmlns:a16="http://schemas.microsoft.com/office/drawing/2014/main" id="{99B26ACF-D099-41F3-B4DF-D3C25EA57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9694" y="1916288"/>
            <a:ext cx="7649605" cy="3565922"/>
          </a:xfrm>
          <a:prstGeom prst="roundRect">
            <a:avLst>
              <a:gd name="adj" fmla="val 6491"/>
            </a:avLst>
          </a:prstGeom>
          <a:noFill/>
          <a:ln w="15240">
            <a:solidFill>
              <a:srgbClr val="FFFFFF">
                <a:alpha val="23921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 sz="1600"/>
          </a:p>
        </p:txBody>
      </p:sp>
      <p:sp>
        <p:nvSpPr>
          <p:cNvPr id="40964" name="Shape 2">
            <a:extLst>
              <a:ext uri="{FF2B5EF4-FFF2-40B4-BE49-F238E27FC236}">
                <a16:creationId xmlns:a16="http://schemas.microsoft.com/office/drawing/2014/main" id="{C84E2863-2FB6-4E80-A343-45F5F1011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5484" y="1925218"/>
            <a:ext cx="7616858" cy="1182688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 sz="1600"/>
          </a:p>
        </p:txBody>
      </p:sp>
      <p:sp>
        <p:nvSpPr>
          <p:cNvPr id="40965" name="Text 3">
            <a:extLst>
              <a:ext uri="{FF2B5EF4-FFF2-40B4-BE49-F238E27FC236}">
                <a16:creationId xmlns:a16="http://schemas.microsoft.com/office/drawing/2014/main" id="{A54BDF0E-892E-4423-AE50-6520E856C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6054" y="2022454"/>
            <a:ext cx="3295946" cy="24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5750" indent="-285750">
              <a:lnSpc>
                <a:spcPts val="1938"/>
              </a:lnSpc>
              <a:buFont typeface="Arial" panose="020B0604020202020204" pitchFamily="34" charset="0"/>
              <a:buChar char="•"/>
            </a:pPr>
            <a:r>
              <a:rPr lang="en-US" altLang="en-US" b="1" dirty="0">
                <a:cs typeface="Barlow" charset="0"/>
              </a:rPr>
              <a:t>Expansion to Other Processes</a:t>
            </a:r>
            <a:endParaRPr lang="en-US" altLang="en-US" b="1" dirty="0"/>
          </a:p>
        </p:txBody>
      </p:sp>
      <p:sp>
        <p:nvSpPr>
          <p:cNvPr id="40966" name="Text 4">
            <a:extLst>
              <a:ext uri="{FF2B5EF4-FFF2-40B4-BE49-F238E27FC236}">
                <a16:creationId xmlns:a16="http://schemas.microsoft.com/office/drawing/2014/main" id="{FCB5C1D5-B865-476C-AF82-5247AC1F1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219" y="2022452"/>
            <a:ext cx="4010478" cy="988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938"/>
              </a:lnSpc>
            </a:pPr>
            <a:r>
              <a:rPr lang="en-US" altLang="en-US" dirty="0">
                <a:cs typeface="Barlow" charset="0"/>
              </a:rPr>
              <a:t>Automate additional processes beyond bill filling, such as customer inquiries and account management.</a:t>
            </a:r>
            <a:endParaRPr lang="en-US" altLang="en-US" dirty="0"/>
          </a:p>
        </p:txBody>
      </p:sp>
      <p:sp>
        <p:nvSpPr>
          <p:cNvPr id="40967" name="Shape 5">
            <a:extLst>
              <a:ext uri="{FF2B5EF4-FFF2-40B4-BE49-F238E27FC236}">
                <a16:creationId xmlns:a16="http://schemas.microsoft.com/office/drawing/2014/main" id="{8858548B-D9EA-41D7-99EC-A06F84B45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5484" y="3107906"/>
            <a:ext cx="7616858" cy="1181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0968" name="Text 6">
            <a:extLst>
              <a:ext uri="{FF2B5EF4-FFF2-40B4-BE49-F238E27FC236}">
                <a16:creationId xmlns:a16="http://schemas.microsoft.com/office/drawing/2014/main" id="{221D508C-0A84-426A-96A1-4D62EF67E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2725" y="3205141"/>
            <a:ext cx="3295946" cy="24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5750" indent="-285750">
              <a:lnSpc>
                <a:spcPts val="1938"/>
              </a:lnSpc>
              <a:buFont typeface="Arial" panose="020B0604020202020204" pitchFamily="34" charset="0"/>
              <a:buChar char="•"/>
            </a:pPr>
            <a:r>
              <a:rPr lang="en-US" altLang="en-US" b="1" dirty="0">
                <a:cs typeface="Barlow" charset="0"/>
              </a:rPr>
              <a:t>Integration with AI/ML</a:t>
            </a:r>
            <a:endParaRPr lang="en-US" altLang="en-US" b="1" dirty="0"/>
          </a:p>
        </p:txBody>
      </p:sp>
      <p:sp>
        <p:nvSpPr>
          <p:cNvPr id="40969" name="Text 7">
            <a:extLst>
              <a:ext uri="{FF2B5EF4-FFF2-40B4-BE49-F238E27FC236}">
                <a16:creationId xmlns:a16="http://schemas.microsoft.com/office/drawing/2014/main" id="{B3242F43-9B38-4DA9-B04B-56B6B468E7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219" y="3205140"/>
            <a:ext cx="4010478" cy="987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938"/>
              </a:lnSpc>
            </a:pPr>
            <a:r>
              <a:rPr lang="en-US" altLang="en-US" dirty="0">
                <a:cs typeface="Barlow" charset="0"/>
              </a:rPr>
              <a:t>Leverage artificial intelligence and machine learning to enhance the automation's capabilities.</a:t>
            </a:r>
            <a:endParaRPr lang="en-US" altLang="en-US" dirty="0"/>
          </a:p>
        </p:txBody>
      </p:sp>
      <p:sp>
        <p:nvSpPr>
          <p:cNvPr id="40970" name="Shape 8">
            <a:extLst>
              <a:ext uri="{FF2B5EF4-FFF2-40B4-BE49-F238E27FC236}">
                <a16:creationId xmlns:a16="http://schemas.microsoft.com/office/drawing/2014/main" id="{B044884F-97E8-41DD-9002-F68FD3D13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5484" y="4289600"/>
            <a:ext cx="7616858" cy="1182688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0971" name="Text 9">
            <a:extLst>
              <a:ext uri="{FF2B5EF4-FFF2-40B4-BE49-F238E27FC236}">
                <a16:creationId xmlns:a16="http://schemas.microsoft.com/office/drawing/2014/main" id="{7AA8E09E-CAD6-4C3A-9159-E6E337563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2725" y="4391697"/>
            <a:ext cx="3295946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5750" indent="-285750">
              <a:lnSpc>
                <a:spcPts val="1938"/>
              </a:lnSpc>
              <a:buFont typeface="Arial" panose="020B0604020202020204" pitchFamily="34" charset="0"/>
              <a:buChar char="•"/>
            </a:pPr>
            <a:r>
              <a:rPr lang="en-US" altLang="en-US" b="1" dirty="0">
                <a:cs typeface="Barlow" charset="0"/>
              </a:rPr>
              <a:t>Mobile Application</a:t>
            </a:r>
            <a:endParaRPr lang="en-US" altLang="en-US" b="1" dirty="0"/>
          </a:p>
        </p:txBody>
      </p:sp>
      <p:sp>
        <p:nvSpPr>
          <p:cNvPr id="40972" name="Text 10">
            <a:extLst>
              <a:ext uri="{FF2B5EF4-FFF2-40B4-BE49-F238E27FC236}">
                <a16:creationId xmlns:a16="http://schemas.microsoft.com/office/drawing/2014/main" id="{DA29C252-FFCD-4C85-85EC-3249AC430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219" y="4387828"/>
            <a:ext cx="4010478" cy="987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938"/>
              </a:lnSpc>
            </a:pPr>
            <a:r>
              <a:rPr lang="en-US" altLang="en-US" dirty="0">
                <a:cs typeface="Barlow" charset="0"/>
              </a:rPr>
              <a:t>Develop a mobile app for customers to access their electricity information and manage their accounts.</a:t>
            </a:r>
            <a:endParaRPr lang="en-US" alt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484FA1-B9D3-4824-9C63-5C226F1E1BEF}"/>
              </a:ext>
            </a:extLst>
          </p:cNvPr>
          <p:cNvSpPr/>
          <p:nvPr/>
        </p:nvSpPr>
        <p:spPr>
          <a:xfrm>
            <a:off x="6247528" y="5618140"/>
            <a:ext cx="1920588" cy="3224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0">
            <a:extLst>
              <a:ext uri="{FF2B5EF4-FFF2-40B4-BE49-F238E27FC236}">
                <a16:creationId xmlns:a16="http://schemas.microsoft.com/office/drawing/2014/main" id="{5CA61215-6836-4E8D-BDA0-63759959C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0608" y="1123099"/>
            <a:ext cx="5433219" cy="308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ts val="2406"/>
              </a:lnSpc>
            </a:pPr>
            <a:r>
              <a:rPr lang="en-US" altLang="en-US" sz="4000" b="1" dirty="0">
                <a:latin typeface="Times New Roman" panose="02020603050405020304" pitchFamily="18" charset="0"/>
                <a:ea typeface="Spline Sans Bold"/>
                <a:cs typeface="Times New Roman" panose="02020603050405020304" pitchFamily="18" charset="0"/>
              </a:rPr>
              <a:t>Mitigation Strategies</a:t>
            </a:r>
            <a:endParaRPr lang="en-US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011" name="Text 1">
            <a:extLst>
              <a:ext uri="{FF2B5EF4-FFF2-40B4-BE49-F238E27FC236}">
                <a16:creationId xmlns:a16="http://schemas.microsoft.com/office/drawing/2014/main" id="{11647F3C-C21D-4374-8E01-A56AB2362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2" y="2392165"/>
            <a:ext cx="1235274" cy="154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5750" indent="-285750">
              <a:lnSpc>
                <a:spcPts val="1188"/>
              </a:lnSpc>
              <a:buFont typeface="Arial" panose="020B0604020202020204" pitchFamily="34" charset="0"/>
              <a:buChar char="•"/>
            </a:pPr>
            <a:r>
              <a:rPr lang="en-US" altLang="en-US" b="1">
                <a:ea typeface="Spline Sans Bold"/>
                <a:cs typeface="Spline Sans Bold"/>
              </a:rPr>
              <a:t>Technical Challenges</a:t>
            </a:r>
            <a:endParaRPr lang="en-US" altLang="en-US"/>
          </a:p>
        </p:txBody>
      </p:sp>
      <p:sp>
        <p:nvSpPr>
          <p:cNvPr id="43012" name="Text 2">
            <a:extLst>
              <a:ext uri="{FF2B5EF4-FFF2-40B4-BE49-F238E27FC236}">
                <a16:creationId xmlns:a16="http://schemas.microsoft.com/office/drawing/2014/main" id="{40AADFEC-AF3B-47B5-AA0F-88B01B215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2" y="2613422"/>
            <a:ext cx="7643813" cy="177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375"/>
              </a:lnSpc>
            </a:pPr>
            <a:r>
              <a:rPr lang="en-US" altLang="en-US" sz="1400">
                <a:cs typeface="Barlow" charset="0"/>
              </a:rPr>
              <a:t>Ensure the automation is resilient and can adapt to changes in the Mahavitaran website structure.</a:t>
            </a:r>
            <a:endParaRPr lang="en-US" altLang="en-US" sz="1400"/>
          </a:p>
        </p:txBody>
      </p:sp>
      <p:sp>
        <p:nvSpPr>
          <p:cNvPr id="43013" name="Text 3">
            <a:extLst>
              <a:ext uri="{FF2B5EF4-FFF2-40B4-BE49-F238E27FC236}">
                <a16:creationId xmlns:a16="http://schemas.microsoft.com/office/drawing/2014/main" id="{16080BAF-70F2-4545-979E-B7A38F0E6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3" y="3282157"/>
            <a:ext cx="1454547" cy="153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5750" indent="-285750">
              <a:lnSpc>
                <a:spcPts val="1188"/>
              </a:lnSpc>
              <a:buFont typeface="Arial" panose="020B0604020202020204" pitchFamily="34" charset="0"/>
              <a:buChar char="•"/>
            </a:pPr>
            <a:r>
              <a:rPr lang="en-US" altLang="en-US" b="1">
                <a:ea typeface="Spline Sans Bold"/>
                <a:cs typeface="Spline Sans Bold"/>
              </a:rPr>
              <a:t>Compliance and Security</a:t>
            </a:r>
            <a:endParaRPr lang="en-US" altLang="en-US"/>
          </a:p>
        </p:txBody>
      </p:sp>
      <p:sp>
        <p:nvSpPr>
          <p:cNvPr id="43014" name="Text 4">
            <a:extLst>
              <a:ext uri="{FF2B5EF4-FFF2-40B4-BE49-F238E27FC236}">
                <a16:creationId xmlns:a16="http://schemas.microsoft.com/office/drawing/2014/main" id="{B9117730-101F-40C4-86B7-3D376FE78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2" y="3502422"/>
            <a:ext cx="7643813" cy="17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375"/>
              </a:lnSpc>
            </a:pPr>
            <a:r>
              <a:rPr lang="en-US" altLang="en-US" sz="1400">
                <a:cs typeface="Barlow" charset="0"/>
              </a:rPr>
              <a:t>Implement robust security measures to protect customer data and adhere to regulatory requirements.</a:t>
            </a:r>
            <a:endParaRPr lang="en-US" altLang="en-US" sz="1400"/>
          </a:p>
        </p:txBody>
      </p:sp>
      <p:sp>
        <p:nvSpPr>
          <p:cNvPr id="43015" name="Text 5">
            <a:extLst>
              <a:ext uri="{FF2B5EF4-FFF2-40B4-BE49-F238E27FC236}">
                <a16:creationId xmlns:a16="http://schemas.microsoft.com/office/drawing/2014/main" id="{8C390744-7EAB-447E-AAC1-E5A2591CC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3" y="4171157"/>
            <a:ext cx="1478359" cy="153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5750" indent="-285750">
              <a:lnSpc>
                <a:spcPts val="1188"/>
              </a:lnSpc>
              <a:buFont typeface="Arial" panose="020B0604020202020204" pitchFamily="34" charset="0"/>
              <a:buChar char="•"/>
            </a:pPr>
            <a:r>
              <a:rPr lang="en-US" altLang="en-US" b="1">
                <a:ea typeface="Spline Sans Bold"/>
                <a:cs typeface="Spline Sans Bold"/>
              </a:rPr>
              <a:t>Continuous Improvement</a:t>
            </a:r>
            <a:endParaRPr lang="en-US" altLang="en-US"/>
          </a:p>
        </p:txBody>
      </p:sp>
      <p:sp>
        <p:nvSpPr>
          <p:cNvPr id="43016" name="Text 6">
            <a:extLst>
              <a:ext uri="{FF2B5EF4-FFF2-40B4-BE49-F238E27FC236}">
                <a16:creationId xmlns:a16="http://schemas.microsoft.com/office/drawing/2014/main" id="{1F328C0A-5ACC-45E2-8B9B-D0100B4D8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2" y="4391422"/>
            <a:ext cx="7643813" cy="17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1375"/>
              </a:lnSpc>
            </a:pPr>
            <a:r>
              <a:rPr lang="en-US" altLang="en-US" sz="1400">
                <a:cs typeface="Barlow" charset="0"/>
              </a:rPr>
              <a:t>Regularly monitor and optimize the automation process to address any emerging issues or inefficiencies.</a:t>
            </a:r>
            <a:endParaRPr lang="en-US" altLang="en-US" sz="1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A89E37-E0BF-4256-A5B9-14D5BBD31911}"/>
              </a:ext>
            </a:extLst>
          </p:cNvPr>
          <p:cNvSpPr/>
          <p:nvPr/>
        </p:nvSpPr>
        <p:spPr>
          <a:xfrm>
            <a:off x="7494985" y="4949031"/>
            <a:ext cx="1133078" cy="3055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125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0">
            <a:extLst>
              <a:ext uri="{FF2B5EF4-FFF2-40B4-BE49-F238E27FC236}">
                <a16:creationId xmlns:a16="http://schemas.microsoft.com/office/drawing/2014/main" id="{0ADB881A-212B-482C-8270-CFA732DCB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4842" y="1898542"/>
            <a:ext cx="4299148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ts val="3375"/>
              </a:lnSpc>
            </a:pPr>
            <a:r>
              <a:rPr lang="en-US" altLang="en-US" sz="4000" b="1" dirty="0">
                <a:latin typeface="Times New Roman" panose="02020603050405020304" pitchFamily="18" charset="0"/>
                <a:ea typeface="Spline Sans Bold"/>
                <a:cs typeface="Times New Roman" panose="02020603050405020304" pitchFamily="18" charset="0"/>
              </a:rPr>
              <a:t>Conclusion and Next Steps</a:t>
            </a:r>
            <a:endParaRPr lang="en-US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059" name="Text 1">
            <a:extLst>
              <a:ext uri="{FF2B5EF4-FFF2-40B4-BE49-F238E27FC236}">
                <a16:creationId xmlns:a16="http://schemas.microsoft.com/office/drawing/2014/main" id="{F67589AB-615D-4625-B05F-35CB20DA2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883" y="2893287"/>
            <a:ext cx="8098234" cy="1481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lnSpc>
                <a:spcPts val="1938"/>
              </a:lnSpc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In conclusion, automating the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Mahavitaran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using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UiPath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presents a transformative opportunity to improve efficiency, accuracy, and customer satisfaction. By addressing the identified challenges and leveraging the full potential of this automation,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Mahavitaran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pave the way for a more streamlined and customer-centric electricity distribution experience.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818</Words>
  <Application>Microsoft Office PowerPoint</Application>
  <PresentationFormat>On-screen Show (4:3)</PresentationFormat>
  <Paragraphs>147</Paragraphs>
  <Slides>18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Barlow</vt:lpstr>
      <vt:lpstr>Bell MT</vt:lpstr>
      <vt:lpstr>Calibri</vt:lpstr>
      <vt:lpstr>Cambria</vt:lpstr>
      <vt:lpstr>Spline Sans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Objectives</vt:lpstr>
      <vt:lpstr>Tools and Technologies Used</vt:lpstr>
      <vt:lpstr>PowerPoint Presentation</vt:lpstr>
      <vt:lpstr>Workflow Overview</vt:lpstr>
      <vt:lpstr>PowerPoint Presentation</vt:lpstr>
      <vt:lpstr>UiPath Project Architecture</vt:lpstr>
      <vt:lpstr>Scheduling the Bot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Sudarshan Ghangale</cp:lastModifiedBy>
  <cp:revision>8</cp:revision>
  <dcterms:created xsi:type="dcterms:W3CDTF">2013-01-27T09:14:16Z</dcterms:created>
  <dcterms:modified xsi:type="dcterms:W3CDTF">2025-06-12T19:40:41Z</dcterms:modified>
  <cp:category/>
</cp:coreProperties>
</file>